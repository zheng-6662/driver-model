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801600" cy="932656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570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634C1A-CC4E-485A-BC45-37FCE8734A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1526362"/>
            <a:ext cx="9601200" cy="324702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DAB02D5-48EF-4739-81AE-1839DC625A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0200" y="4898605"/>
            <a:ext cx="9601200" cy="225176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647663-88B1-40F9-B4BB-9C7D31E5B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0375F-0F2D-4C8F-81D3-1E5EDDA649CC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18632B-5C83-428F-BBDB-B7835DBF3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97636E-8657-49F4-ADE6-813323BC2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9C6DB-4460-4D42-A8A3-E6E6FDCA28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7224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79195A-56AE-494F-A809-E7D4F76B8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36A5B4-EFA9-4A91-A38E-4ED5D3CF00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430E40-7575-450F-A196-3EEED17AC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0375F-0F2D-4C8F-81D3-1E5EDDA649CC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7C27A3-B671-43B2-8FEF-B7B74CFB1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187688-8476-4045-977C-2BA32BF8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9C6DB-4460-4D42-A8A3-E6E6FDCA28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5381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D2DFB6-93CF-4304-A897-6ED927E9D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443" y="2325167"/>
            <a:ext cx="11041380" cy="387959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A02842-2AA0-4FDB-8496-8787AACB4A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3443" y="6241460"/>
            <a:ext cx="11041380" cy="204018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DBAF950-87B4-45A1-ACFF-EF3794147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0375F-0F2D-4C8F-81D3-1E5EDDA649CC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FB50F7-01C7-4064-A211-1252FE4E5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A55573-F5C5-4554-9110-C05229EC8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9C6DB-4460-4D42-A8A3-E6E6FDCA28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385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E80231-2750-40A9-9085-FD64DBBF7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0B3356-7EFC-4BCE-9963-E1741B26ED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80110" y="2482765"/>
            <a:ext cx="5440680" cy="591761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CEAFC86-AA09-4910-B4FD-CF424B53D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80810" y="2482765"/>
            <a:ext cx="5440680" cy="591761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2640857-6E26-4620-9925-226A9A71D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0375F-0F2D-4C8F-81D3-1E5EDDA649CC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88F7B4E-6445-48F3-898E-5C19704AE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922EB6E-1DF4-4025-8B00-522D0DA4A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9C6DB-4460-4D42-A8A3-E6E6FDCA28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2465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D8FDFA-872A-4CA9-8679-127058E6A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777" y="496555"/>
            <a:ext cx="11041380" cy="180270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DAA02F6-D50A-4AE5-906F-03CE10D1B4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1778" y="2286304"/>
            <a:ext cx="5415676" cy="112048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9551D6-94BF-4732-BFE9-245D0DA82E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81778" y="3406786"/>
            <a:ext cx="5415676" cy="501086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A7B0043-6006-4467-88D9-2F04B82139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80811" y="2286304"/>
            <a:ext cx="5442347" cy="112048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5C52007-9FDE-4679-A193-5C2BBA27FC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80811" y="3406786"/>
            <a:ext cx="5442347" cy="501086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4536952-31DA-48B9-9800-969EDB9A0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0375F-0F2D-4C8F-81D3-1E5EDDA649CC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7474EF3-C8CC-4489-9B4C-242B5AE88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1E66A2A-98EA-4ADE-BC06-443BDFE29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9C6DB-4460-4D42-A8A3-E6E6FDCA28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0295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C94D2B-4D54-4553-921F-A5361EF89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B290B8-41CA-447B-825B-457453585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0375F-0F2D-4C8F-81D3-1E5EDDA649CC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6B9E424-5882-4C2D-A125-6478C535E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1925126-AC04-46B3-95A0-9D22E0F4E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9C6DB-4460-4D42-A8A3-E6E6FDCA28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0259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59DCB7B-9672-4F7A-A425-5B23843D2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0375F-0F2D-4C8F-81D3-1E5EDDA649CC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C902BE7-D371-4F0B-9120-57F42067C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2150929-664E-43B7-863E-3CEA6333B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9C6DB-4460-4D42-A8A3-E6E6FDCA28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65341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2CDB7D-B6AA-497A-B501-8D62D3EC8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779" y="621771"/>
            <a:ext cx="4128849" cy="217619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730B74-C87A-40B5-965A-05D5B862E0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2347" y="1342854"/>
            <a:ext cx="6480810" cy="662790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103CDC6-B5F6-4CA3-906E-DCD7054D8D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81779" y="2797969"/>
            <a:ext cx="4128849" cy="518358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EE5CAA-CF7C-4F99-9CB2-077C43BF8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0375F-0F2D-4C8F-81D3-1E5EDDA649CC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A161FD2-6ACF-447D-A811-CD3D43A57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5F688C8-41FA-4334-95CF-6C09BBA6D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9C6DB-4460-4D42-A8A3-E6E6FDCA28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2318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E0B106-19EF-455C-9783-2B3B58D1E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779" y="621771"/>
            <a:ext cx="4128849" cy="217619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6F3001A-216F-4EA4-8529-FB4863813B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442347" y="1342854"/>
            <a:ext cx="6480810" cy="662790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E086158-61D5-45C2-A310-6A007190E9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81779" y="2797969"/>
            <a:ext cx="4128849" cy="518358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F3D6CA3-C111-4B06-B466-77EBC91BA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0375F-0F2D-4C8F-81D3-1E5EDDA649CC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7413B7A-39B2-47A7-A8C7-7DF09879D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07F1B98-AA5C-49D8-BFC2-32F5111E3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9C6DB-4460-4D42-A8A3-E6E6FDCA28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4617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ECF0D3-76D1-44F3-892F-6779E96C7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9DFD337-FE26-48DE-BAB9-0F842A435D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BEEB59-EF22-42ED-A27B-72F4CAD55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0375F-0F2D-4C8F-81D3-1E5EDDA649CC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603F99-7D5F-407A-9301-8F446C06F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00E82B-00FA-445C-89E4-1C23CB312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9C6DB-4460-4D42-A8A3-E6E6FDCA28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4795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9AB3981-70C2-44CE-9092-1309C657F7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61146" y="496553"/>
            <a:ext cx="2760345" cy="790383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7C840F5-32D4-43C7-8178-DBE12BD530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80111" y="496553"/>
            <a:ext cx="8121015" cy="790383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414D53-A4BB-4C74-86C5-E85F8FD77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0375F-0F2D-4C8F-81D3-1E5EDDA649CC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050757-091B-43D5-A78A-F42C894A0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5CEA8A-27DB-401A-A6ED-A476EB3F1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9C6DB-4460-4D42-A8A3-E6E6FDCA28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9840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5932E6D-B277-4CF9-B848-9CB9A01B5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110" y="496555"/>
            <a:ext cx="11041380" cy="18027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7B5A247-C85C-4233-AA57-933621F9AF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0110" y="2482765"/>
            <a:ext cx="11041380" cy="5917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7B82E9-B9F5-4B74-A86B-5DE273AF26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" y="8644344"/>
            <a:ext cx="2880360" cy="4965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50375F-0F2D-4C8F-81D3-1E5EDDA649CC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79E262-9604-4A70-868D-B94F1BD82E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40530" y="8644344"/>
            <a:ext cx="4320540" cy="4965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932A9D-2720-4F95-A684-0B5F894088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41130" y="8644344"/>
            <a:ext cx="2880360" cy="4965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9C6DB-4460-4D42-A8A3-E6E6FDCA28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8027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8D545712-5338-45F6-9E2D-6AD0479AC474}"/>
              </a:ext>
            </a:extLst>
          </p:cNvPr>
          <p:cNvSpPr/>
          <p:nvPr/>
        </p:nvSpPr>
        <p:spPr>
          <a:xfrm>
            <a:off x="411480" y="502920"/>
            <a:ext cx="457200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778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AA6062D-A3A3-4FB6-A0E6-28B3FDB19AF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54380" y="1393644"/>
            <a:ext cx="3886200" cy="1387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279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3048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初始化</a:t>
            </a:r>
            <a:endParaRPr kumimoji="0" lang="zh-CN" altLang="zh-CN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3048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x0= 0, …, 0Tx0+= Ex0P0+= Ex0- x0x0- x0T</a:t>
            </a:r>
            <a:r>
              <a:rPr kumimoji="0" lang="en-US" altLang="zh-CN" sz="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7D7626CC-4D5D-4A47-8915-04031BE4A0EA}"/>
              </a:ext>
            </a:extLst>
          </p:cNvPr>
          <p:cNvSpPr/>
          <p:nvPr/>
        </p:nvSpPr>
        <p:spPr>
          <a:xfrm>
            <a:off x="6217920" y="502920"/>
            <a:ext cx="6217920" cy="1874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778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D2CB14E-9EA9-4045-A69E-C0C6036D0CA8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6866114" y="731520"/>
                <a:ext cx="4921531" cy="1417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304800" algn="ctr" latinLnBrk="1">
                  <a:lnSpc>
                    <a:spcPts val="2000"/>
                  </a:lnSpc>
                  <a:spcAft>
                    <a:spcPts val="400"/>
                  </a:spcAft>
                </a:pPr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生成</a:t>
                </a:r>
                <a:r>
                  <a:rPr lang="en-US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sigma</a:t>
                </a:r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点</a:t>
                </a:r>
              </a:p>
              <a:p>
                <a:pPr indent="266700" algn="ctr" latinLnBrk="1">
                  <a:lnSpc>
                    <a:spcPts val="2000"/>
                  </a:lnSpc>
                  <a:spcAft>
                    <a:spcPts val="200"/>
                  </a:spcAft>
                </a:pPr>
                <a:r>
                  <a:rPr lang="en-US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 </a:t>
                </a:r>
                <a:endParaRPr lang="zh-CN" altLang="zh-CN" sz="24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ctr" latinLnBrk="1">
                  <a:lnSpc>
                    <a:spcPts val="2000"/>
                  </a:lnSpc>
                  <a:spcAft>
                    <a:spcPts val="1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𝜒</m:t>
                              </m:r>
                            </m:e>
                          </m:acc>
                        </m:e>
                        <m:sub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p>
                      </m:sSubSup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 </m:t>
                      </m:r>
                      <m:sSubSup>
                        <m:sSubSup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</m:sup>
                      </m:sSubSup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+ </m:t>
                      </m:r>
                      <m:sSup>
                        <m:sSup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𝜒</m:t>
                              </m:r>
                            </m:e>
                          </m:acc>
                        </m:e>
                        <m:sup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p>
                      </m:sSup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   </m:t>
                      </m:r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𝑖</m:t>
                      </m:r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 = 1, …, 2</m:t>
                      </m:r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𝑛</m:t>
                      </m:r>
                      <m:r>
                        <a:rPr lang="zh-CN" altLang="zh-CN" sz="18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其中</m:t>
                      </m:r>
                    </m:oMath>
                  </m:oMathPara>
                </a14:m>
                <a:endParaRPr lang="zh-CN" altLang="zh-CN" sz="24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54000" algn="ctr" latinLnBrk="1">
                  <a:lnSpc>
                    <a:spcPts val="2000"/>
                  </a:lnSpc>
                </a:pPr>
                <a:r>
                  <a:rPr lang="en-US" altLang="zh-CN" sz="16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 </a:t>
                </a:r>
                <a:endParaRPr lang="zh-CN" altLang="zh-CN" sz="24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zh-CN" sz="16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zh-CN" altLang="zh-CN" sz="16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6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𝜒</m:t>
                              </m:r>
                            </m:e>
                          </m:acc>
                        </m:e>
                        <m:sup>
                          <m:r>
                            <a:rPr lang="en-US" altLang="zh-CN" sz="16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p>
                      </m:sSup>
                      <m:r>
                        <a:rPr lang="en-US" altLang="zh-CN" sz="16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 </m:t>
                      </m:r>
                      <m:sSubSup>
                        <m:sSubSupPr>
                          <m:ctrlPr>
                            <a:rPr lang="zh-CN" altLang="zh-CN" sz="16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ctrlPr>
                                <a:rPr lang="zh-CN" altLang="zh-CN" sz="16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ad>
                                <m:radPr>
                                  <m:degHide m:val="on"/>
                                  <m:ctrlPr>
                                    <a:rPr lang="zh-CN" altLang="zh-CN" sz="16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16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  <m:sSubSup>
                                    <m:sSubSupPr>
                                      <m:ctrlPr>
                                        <a:rPr lang="zh-CN" altLang="zh-CN" sz="1600" i="1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600" i="1">
                                          <a:effectLst/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altLang="zh-CN" sz="1600" i="1">
                                          <a:effectLst/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altLang="zh-CN" sz="1600" i="1">
                                          <a:effectLst/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−1</m:t>
                                      </m:r>
                                    </m:sub>
                                    <m:sup>
                                      <m:r>
                                        <a:rPr lang="en-US" altLang="zh-CN" sz="1600" i="1">
                                          <a:effectLst/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+</m:t>
                                      </m:r>
                                    </m:sup>
                                  </m:sSubSup>
                                </m:e>
                              </m:rad>
                            </m:e>
                          </m:d>
                        </m:e>
                        <m:sub>
                          <m:r>
                            <a:rPr lang="en-US" altLang="zh-CN" sz="16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16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altLang="zh-CN" sz="16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,    </m:t>
                      </m:r>
                      <m:sSup>
                        <m:sSupPr>
                          <m:ctrlPr>
                            <a:rPr lang="zh-CN" altLang="zh-CN" sz="16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zh-CN" altLang="zh-CN" sz="16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6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𝜒</m:t>
                              </m:r>
                            </m:e>
                          </m:acc>
                        </m:e>
                        <m:sup>
                          <m:r>
                            <a:rPr lang="en-US" altLang="zh-CN" sz="16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altLang="zh-CN" sz="16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CN" sz="16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p>
                      </m:sSup>
                      <m:r>
                        <a:rPr lang="en-US" altLang="zh-CN" sz="16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 −</m:t>
                      </m:r>
                      <m:sSubSup>
                        <m:sSubSupPr>
                          <m:ctrlPr>
                            <a:rPr lang="zh-CN" altLang="zh-CN" sz="16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ctrlPr>
                                <a:rPr lang="zh-CN" altLang="zh-CN" sz="16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ad>
                                <m:radPr>
                                  <m:degHide m:val="on"/>
                                  <m:ctrlPr>
                                    <a:rPr lang="zh-CN" altLang="zh-CN" sz="16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16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  <m:sSubSup>
                                    <m:sSubSupPr>
                                      <m:ctrlPr>
                                        <a:rPr lang="zh-CN" altLang="zh-CN" sz="1600" i="1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600" i="1">
                                          <a:effectLst/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altLang="zh-CN" sz="1600" i="1">
                                          <a:effectLst/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altLang="zh-CN" sz="1600" i="1">
                                          <a:effectLst/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−1</m:t>
                                      </m:r>
                                    </m:sub>
                                    <m:sup>
                                      <m:r>
                                        <a:rPr lang="en-US" altLang="zh-CN" sz="1600" i="1">
                                          <a:effectLst/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+</m:t>
                                      </m:r>
                                    </m:sup>
                                  </m:sSubSup>
                                </m:e>
                              </m:rad>
                            </m:e>
                          </m:d>
                        </m:e>
                        <m:sub>
                          <m:r>
                            <a:rPr lang="en-US" altLang="zh-CN" sz="16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16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D2CB14E-9EA9-4045-A69E-C0C6036D0C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6114" y="731520"/>
                <a:ext cx="4921531" cy="1417320"/>
              </a:xfrm>
              <a:prstGeom prst="rect">
                <a:avLst/>
              </a:prstGeom>
              <a:blipFill>
                <a:blip r:embed="rId2"/>
                <a:stretch>
                  <a:fillRect t="-12446" b="-257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: 圆角 6">
            <a:extLst>
              <a:ext uri="{FF2B5EF4-FFF2-40B4-BE49-F238E27FC236}">
                <a16:creationId xmlns:a16="http://schemas.microsoft.com/office/drawing/2014/main" id="{9908A10D-0437-4680-9515-5B285B950A28}"/>
              </a:ext>
            </a:extLst>
          </p:cNvPr>
          <p:cNvSpPr/>
          <p:nvPr/>
        </p:nvSpPr>
        <p:spPr>
          <a:xfrm>
            <a:off x="1417320" y="2514600"/>
            <a:ext cx="3017520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778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B1451C88-28B5-4B10-872A-0B10E353F43B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1805940" y="3293411"/>
                <a:ext cx="2240280" cy="5454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304800" algn="ctr" latinLnBrk="1">
                  <a:lnSpc>
                    <a:spcPts val="2000"/>
                  </a:lnSpc>
                  <a:spcAft>
                    <a:spcPts val="500"/>
                  </a:spcAft>
                </a:pPr>
                <a:r>
                  <a:rPr lang="zh-CN" altLang="zh-CN" sz="20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量测量</a:t>
                </a:r>
              </a:p>
              <a:p>
                <a:pPr indent="279400" algn="ctr" latinLnBrk="1">
                  <a:lnSpc>
                    <a:spcPts val="2000"/>
                  </a:lnSpc>
                  <a:spcAft>
                    <a:spcPts val="500"/>
                  </a:spcAft>
                </a:pPr>
                <a:r>
                  <a:rPr lang="en-US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 </a:t>
                </a:r>
                <a:endParaRPr lang="zh-CN" altLang="zh-CN" sz="20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79400" algn="ctr" latinLnBrk="1">
                  <a:lnSpc>
                    <a:spcPts val="2000"/>
                  </a:lnSpc>
                  <a:spcAft>
                    <a:spcPts val="1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𝑦</m:t>
                      </m:r>
                      <m:d>
                        <m:d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, </m:t>
                              </m:r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e>
                          </m:d>
                        </m:e>
                        <m:sup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r>
                        <a:rPr lang="zh-CN" altLang="zh-CN" sz="18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输入量</m:t>
                      </m:r>
                    </m:oMath>
                  </m:oMathPara>
                </a14:m>
                <a:endParaRPr lang="zh-CN" altLang="zh-CN" sz="20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79400" algn="ctr" latinLnBrk="1">
                  <a:lnSpc>
                    <a:spcPts val="2000"/>
                  </a:lnSpc>
                </a:pPr>
                <a:r>
                  <a:rPr lang="en-US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 </a:t>
                </a:r>
                <a:endParaRPr lang="zh-CN" altLang="zh-CN" sz="20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e>
                          </m:d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B1451C88-28B5-4B10-872A-0B10E353F4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5940" y="3293411"/>
                <a:ext cx="2240280" cy="545499"/>
              </a:xfrm>
              <a:prstGeom prst="rect">
                <a:avLst/>
              </a:prstGeom>
              <a:blipFill>
                <a:blip r:embed="rId3"/>
                <a:stretch>
                  <a:fillRect t="-17778" b="-23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C683909-DA1E-43B5-AC1C-D74CD99032AF}"/>
              </a:ext>
            </a:extLst>
          </p:cNvPr>
          <p:cNvSpPr/>
          <p:nvPr/>
        </p:nvSpPr>
        <p:spPr>
          <a:xfrm>
            <a:off x="1417320" y="4800600"/>
            <a:ext cx="301752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778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7FE46B45-5CD5-4E79-9F0F-DAF85559C808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1805940" y="5233826"/>
                <a:ext cx="2240280" cy="3222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304800" algn="ctr" latinLnBrk="1">
                  <a:lnSpc>
                    <a:spcPts val="2000"/>
                  </a:lnSpc>
                  <a:spcAft>
                    <a:spcPts val="300"/>
                  </a:spcAft>
                </a:pPr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估计量</a:t>
                </a:r>
              </a:p>
              <a:p>
                <a:pPr indent="266700" algn="ctr" latinLnBrk="1">
                  <a:lnSpc>
                    <a:spcPts val="2000"/>
                  </a:lnSpc>
                </a:pPr>
                <a:r>
                  <a:rPr lang="en-US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 </a:t>
                </a:r>
                <a:endParaRPr lang="zh-CN" altLang="zh-CN" sz="24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𝑥</m:t>
                      </m:r>
                      <m:d>
                        <m:dPr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18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zh-CN" altLang="zh-CN" sz="18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, …, </m:t>
                              </m:r>
                              <m:sSub>
                                <m:sSubPr>
                                  <m:ctrlPr>
                                    <a:rPr lang="zh-CN" altLang="zh-CN" sz="18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8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7FE46B45-5CD5-4E79-9F0F-DAF85559C8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5940" y="5233826"/>
                <a:ext cx="2240280" cy="322268"/>
              </a:xfrm>
              <a:prstGeom prst="rect">
                <a:avLst/>
              </a:prstGeom>
              <a:blipFill>
                <a:blip r:embed="rId4"/>
                <a:stretch>
                  <a:fillRect t="-55769" b="-27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3760FF4E-9A89-49A6-B87A-A967EF1A348E}"/>
              </a:ext>
            </a:extLst>
          </p:cNvPr>
          <p:cNvSpPr/>
          <p:nvPr/>
        </p:nvSpPr>
        <p:spPr>
          <a:xfrm>
            <a:off x="6217920" y="2971800"/>
            <a:ext cx="6217920" cy="2377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778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279C4244-8968-487F-8DBB-155A4B067580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6790335" y="3246120"/>
                <a:ext cx="5073089" cy="18288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304800" algn="ctr" latinLnBrk="1">
                  <a:lnSpc>
                    <a:spcPts val="2000"/>
                  </a:lnSpc>
                  <a:spcAft>
                    <a:spcPts val="400"/>
                  </a:spcAft>
                </a:pPr>
                <a:r>
                  <a:rPr lang="zh-CN" altLang="zh-CN" sz="2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先验状态估计</a:t>
                </a:r>
              </a:p>
              <a:p>
                <a:pPr indent="266700" algn="ctr" latinLnBrk="1">
                  <a:lnSpc>
                    <a:spcPts val="2000"/>
                  </a:lnSpc>
                  <a:spcAft>
                    <a:spcPts val="200"/>
                  </a:spcAft>
                </a:pPr>
                <a:r>
                  <a:rPr lang="en-US" altLang="zh-CN" sz="20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 </a:t>
                </a:r>
                <a:endParaRPr lang="zh-CN" altLang="zh-CN" sz="28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54000" algn="ctr" latinLnBrk="1">
                  <a:lnSpc>
                    <a:spcPts val="2000"/>
                  </a:lnSpc>
                  <a:spcAft>
                    <a:spcPts val="4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</m:sup>
                      </m:sSubSup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sSubSup>
                            <m:sSubSup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𝜒</m:t>
                              </m:r>
                            </m:e>
                            <m:sub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p>
                          </m:sSubSup>
                        </m:e>
                      </m:nary>
                      <m:r>
                        <a:rPr lang="zh-CN" altLang="zh-CN" sz="18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其中</m:t>
                      </m:r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  </m:t>
                      </m:r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𝜒</m:t>
                      </m:r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_</m:t>
                      </m:r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^(</m:t>
                      </m:r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𝑖</m:t>
                      </m:r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) = </m:t>
                      </m:r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𝑓</m:t>
                      </m:r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𝜒</m:t>
                      </m:r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_(</m:t>
                      </m:r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−1)^(</m:t>
                      </m:r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𝑖</m:t>
                      </m:r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), </m:t>
                      </m:r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𝑢</m:t>
                      </m:r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_</m:t>
                      </m:r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_</m:t>
                      </m:r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zh-CN" altLang="zh-CN" sz="28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ctr" latinLnBrk="1">
                  <a:lnSpc>
                    <a:spcPts val="2000"/>
                  </a:lnSpc>
                  <a:spcAft>
                    <a:spcPts val="200"/>
                  </a:spcAft>
                </a:pPr>
                <a:r>
                  <a:rPr lang="zh-CN" altLang="zh-CN" sz="20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先验估计误差的协方差</a:t>
                </a:r>
                <a:endParaRPr lang="zh-CN" altLang="zh-CN" sz="28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41300" algn="ctr" latinLnBrk="1">
                  <a:lnSpc>
                    <a:spcPts val="2000"/>
                  </a:lnSpc>
                </a:pPr>
                <a:r>
                  <a:rPr lang="en-US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 </a:t>
                </a:r>
                <a:endParaRPr lang="zh-CN" altLang="zh-CN" sz="28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</m:sup>
                      </m:sSubSup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zh-CN" altLang="zh-CN" sz="18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8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𝜒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a:rPr lang="en-US" altLang="zh-CN" sz="18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p>
                              </m:sSubSup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− </m:t>
                              </m:r>
                              <m:sSubSup>
                                <m:sSubSupPr>
                                  <m:ctrlPr>
                                    <a:rPr lang="zh-CN" altLang="zh-CN" sz="18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zh-CN" altLang="zh-CN" sz="1800" i="1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1800" i="1">
                                          <a:effectLst/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sz="18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a:rPr lang="en-US" altLang="zh-CN" sz="18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</m:sup>
                              </m:sSubSup>
                            </m:e>
                          </m:d>
                          <m:sSup>
                            <m:sSup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zh-CN" sz="18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zh-CN" altLang="zh-CN" sz="1800" i="1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800" i="1">
                                          <a:effectLst/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𝜒</m:t>
                                      </m:r>
                                    </m:e>
                                    <m:sub>
                                      <m:r>
                                        <a:rPr lang="en-US" altLang="zh-CN" sz="1800" i="1">
                                          <a:effectLst/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b>
                                    <m:sup>
                                      <m:r>
                                        <a:rPr lang="en-US" altLang="zh-CN" sz="1800" i="1">
                                          <a:effectLst/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p>
                                  </m:sSubSup>
                                  <m:r>
                                    <a:rPr lang="en-US" altLang="zh-CN" sz="18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− </m:t>
                                  </m:r>
                                  <m:sSubSup>
                                    <m:sSubSupPr>
                                      <m:ctrlPr>
                                        <a:rPr lang="zh-CN" altLang="zh-CN" sz="1800" i="1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zh-CN" altLang="zh-CN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CN" sz="1800" i="1">
                                          <a:effectLst/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b>
                                    <m:sup>
                                      <m:r>
                                        <a:rPr lang="en-US" altLang="zh-CN" sz="1800" i="1">
                                          <a:effectLst/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  <m:sup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</m:nary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279C4244-8968-487F-8DBB-155A4B0675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0335" y="3246120"/>
                <a:ext cx="5073089" cy="1828800"/>
              </a:xfrm>
              <a:prstGeom prst="rect">
                <a:avLst/>
              </a:prstGeom>
              <a:blipFill>
                <a:blip r:embed="rId5"/>
                <a:stretch>
                  <a:fillRect t="-36333" b="-36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D72360D-1540-4406-B0BB-395111FAAF6F}"/>
              </a:ext>
            </a:extLst>
          </p:cNvPr>
          <p:cNvSpPr/>
          <p:nvPr/>
        </p:nvSpPr>
        <p:spPr>
          <a:xfrm>
            <a:off x="6263640" y="6400800"/>
            <a:ext cx="6172200" cy="2514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778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D933B8DB-7CCF-4FB9-ABC4-C9393F4DA214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6675120" y="6848012"/>
                <a:ext cx="5349240" cy="16201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304800" algn="ctr" latinLnBrk="1">
                  <a:lnSpc>
                    <a:spcPts val="2000"/>
                  </a:lnSpc>
                  <a:spcAft>
                    <a:spcPts val="400"/>
                  </a:spcAft>
                </a:pPr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量测预测</a:t>
                </a:r>
              </a:p>
              <a:p>
                <a:pPr indent="254000" algn="ctr" latinLnBrk="1">
                  <a:lnSpc>
                    <a:spcPts val="2000"/>
                  </a:lnSpc>
                  <a:spcAft>
                    <a:spcPts val="400"/>
                  </a:spcAft>
                </a:pPr>
                <a:r>
                  <a:rPr lang="en-US" altLang="zh-CN" sz="16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 </a:t>
                </a:r>
                <a:endParaRPr lang="zh-CN" altLang="zh-CN" sz="24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ctr" latinLnBrk="1">
                  <a:lnSpc>
                    <a:spcPts val="2000"/>
                  </a:lnSpc>
                  <a:spcAft>
                    <a:spcPts val="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p>
                      </m:sSubSup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 </m:t>
                      </m:r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h</m:t>
                      </m:r>
                      <m:d>
                        <m:d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𝜒</m:t>
                              </m:r>
                            </m:e>
                            <m:sub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p>
                          </m:sSubSup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   </m:t>
                      </m:r>
                      <m:sSub>
                        <m:sSub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sSubSup>
                            <m:sSubSup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̂"/>
                                  <m:ctrlPr>
                                    <a:rPr lang="zh-CN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p>
                          </m:sSubSup>
                        </m:e>
                      </m:nary>
                      <m:r>
                        <a:rPr lang="zh-CN" altLang="zh-CN" sz="18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量测预测的协方差</m:t>
                      </m:r>
                    </m:oMath>
                  </m:oMathPara>
                </a14:m>
                <a:endParaRPr lang="zh-CN" altLang="zh-CN" sz="24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41300" algn="ctr" latinLnBrk="1">
                  <a:lnSpc>
                    <a:spcPts val="2000"/>
                  </a:lnSpc>
                </a:pPr>
                <a:r>
                  <a:rPr lang="en-US" altLang="zh-CN" sz="16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 </a:t>
                </a:r>
                <a:endParaRPr lang="zh-CN" altLang="zh-CN" sz="24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6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16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altLang="zh-CN" sz="16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16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6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altLang="zh-CN" sz="16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zh-CN" altLang="zh-CN" sz="16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16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16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6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altLang="zh-CN" sz="16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zh-CN" altLang="zh-CN" sz="16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zh-CN" altLang="zh-CN" sz="16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zh-CN" altLang="zh-CN" sz="1600" i="1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1600" i="1">
                                          <a:effectLst/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sz="16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a:rPr lang="en-US" altLang="zh-CN" sz="16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p>
                              </m:sSubSup>
                              <m:r>
                                <a:rPr lang="en-US" altLang="zh-CN" sz="16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− </m:t>
                              </m:r>
                              <m:sSub>
                                <m:sSubPr>
                                  <m:ctrlPr>
                                    <a:rPr lang="zh-CN" altLang="zh-CN" sz="16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zh-CN" altLang="zh-CN" sz="1600" i="1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1600" i="1">
                                          <a:effectLst/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sz="16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zh-CN" altLang="zh-CN" sz="16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zh-CN" sz="16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zh-CN" altLang="zh-CN" sz="1600" i="1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zh-CN" altLang="zh-CN" sz="1600" i="1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sz="1600" i="1">
                                              <a:effectLst/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CN" sz="1600" i="1">
                                          <a:effectLst/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b>
                                    <m:sup>
                                      <m:r>
                                        <a:rPr lang="en-US" altLang="zh-CN" sz="1600" i="1">
                                          <a:effectLst/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p>
                                  </m:sSubSup>
                                  <m:r>
                                    <a:rPr lang="en-US" altLang="zh-CN" sz="16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− </m:t>
                                  </m:r>
                                  <m:sSub>
                                    <m:sSubPr>
                                      <m:ctrlPr>
                                        <a:rPr lang="zh-CN" altLang="zh-CN" sz="1600" i="1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zh-CN" altLang="zh-CN" sz="1600" i="1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sz="1600" i="1">
                                              <a:effectLst/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CN" sz="1600" i="1">
                                          <a:effectLst/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zh-CN" sz="16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</m:nary>
                      <m:r>
                        <a:rPr lang="en-US" altLang="zh-CN" sz="16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zh-CN" altLang="zh-CN" sz="16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16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D933B8DB-7CCF-4FB9-ABC4-C9393F4DA2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5120" y="6848012"/>
                <a:ext cx="5349240" cy="1620176"/>
              </a:xfrm>
              <a:prstGeom prst="rect">
                <a:avLst/>
              </a:prstGeom>
              <a:blipFill>
                <a:blip r:embed="rId6"/>
                <a:stretch>
                  <a:fillRect t="-39474" b="-503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1365F0C9-AC15-44DE-8883-D63C35830B4B}"/>
              </a:ext>
            </a:extLst>
          </p:cNvPr>
          <p:cNvSpPr/>
          <p:nvPr/>
        </p:nvSpPr>
        <p:spPr>
          <a:xfrm>
            <a:off x="182880" y="6446520"/>
            <a:ext cx="5120640" cy="2468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778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33F98F03-1537-44AD-A57D-58A604B014D7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571500" y="6799576"/>
                <a:ext cx="4343400" cy="17627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304800" algn="ctr" latinLnBrk="1">
                  <a:lnSpc>
                    <a:spcPts val="2000"/>
                  </a:lnSpc>
                  <a:spcAft>
                    <a:spcPts val="400"/>
                  </a:spcAft>
                </a:pPr>
                <a:r>
                  <a:rPr lang="zh-CN" altLang="zh-CN" sz="2800" kern="10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状态更新</a:t>
                </a:r>
              </a:p>
              <a:p>
                <a:pPr indent="241300" algn="ctr" latinLnBrk="1">
                  <a:lnSpc>
                    <a:spcPts val="2000"/>
                  </a:lnSpc>
                  <a:spcAft>
                    <a:spcPts val="200"/>
                  </a:spcAft>
                </a:pPr>
                <a:r>
                  <a:rPr lang="en-US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 </a:t>
                </a:r>
                <a:endParaRPr lang="zh-CN" altLang="zh-CN" sz="28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54000" algn="ctr" latinLnBrk="1">
                  <a:lnSpc>
                    <a:spcPts val="2000"/>
                  </a:lnSpc>
                  <a:spcAft>
                    <a:spcPts val="200"/>
                  </a:spcAft>
                </a:pPr>
                <a:r>
                  <a:rPr lang="en-US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 </a:t>
                </a:r>
                <a:endParaRPr lang="zh-CN" altLang="zh-CN" sz="28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54000" algn="ctr" latinLnBrk="1">
                  <a:lnSpc>
                    <a:spcPts val="2000"/>
                  </a:lnSpc>
                  <a:spcAft>
                    <a:spcPts val="200"/>
                  </a:spcAft>
                </a:pPr>
                <a:r>
                  <a:rPr lang="en-US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 </a:t>
                </a:r>
                <a:endParaRPr lang="zh-CN" altLang="zh-CN" sz="28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54000" algn="ctr" latinLnBrk="1">
                  <a:lnSpc>
                    <a:spcPts val="2000"/>
                  </a:lnSpc>
                </a:pPr>
                <a:r>
                  <a:rPr lang="en-US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 </a:t>
                </a:r>
                <a:endParaRPr lang="zh-CN" altLang="zh-CN" sz="28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𝑥𝑦</m:t>
                          </m:r>
                        </m:sub>
                      </m:sSub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zh-CN" altLang="zh-CN" sz="18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8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𝜒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a:rPr lang="en-US" altLang="zh-CN" sz="18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p>
                              </m:sSubSup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− </m:t>
                              </m:r>
                              <m:sSubSup>
                                <m:sSubSupPr>
                                  <m:ctrlPr>
                                    <a:rPr lang="zh-CN" altLang="zh-CN" sz="18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zh-CN" altLang="zh-CN" sz="1800" i="1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1800" i="1">
                                          <a:effectLst/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sz="18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a:rPr lang="en-US" altLang="zh-CN" sz="18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</m:sup>
                              </m:sSubSup>
                            </m:e>
                          </m:d>
                          <m:sSup>
                            <m:sSup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zh-CN" sz="18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zh-CN" altLang="zh-CN" sz="1800" i="1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zh-CN" altLang="zh-CN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CN" sz="1800" i="1">
                                          <a:effectLst/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b>
                                    <m:sup>
                                      <m:r>
                                        <a:rPr lang="en-US" altLang="zh-CN" sz="1800" i="1">
                                          <a:effectLst/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p>
                                  </m:sSubSup>
                                  <m:r>
                                    <a:rPr lang="en-US" altLang="zh-CN" sz="18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− </m:t>
                                  </m:r>
                                  <m:sSub>
                                    <m:sSubPr>
                                      <m:ctrlPr>
                                        <a:rPr lang="zh-CN" altLang="zh-CN" sz="1800" i="1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zh-CN" altLang="zh-CN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CN" sz="1800" i="1">
                                          <a:effectLst/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</m:nary>
                      <m:sSub>
                        <m:sSubPr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𝑥𝑦</m:t>
                          </m:r>
                        </m:sub>
                      </m:sSub>
                      <m:sSubSup>
                        <m:sSubSupPr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</m:sub>
                        <m:sup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</m:sSubSup>
                      <m:sSubSup>
                        <m:sSubSupPr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</m:sup>
                      </m:sSubSup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 </m:t>
                      </m:r>
                      <m:sSubSup>
                        <m:sSubSupPr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</m:sup>
                      </m:sSubSup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  <m:d>
                            <m:d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18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− </m:t>
                              </m:r>
                              <m:sSub>
                                <m:sSubPr>
                                  <m:ctrlPr>
                                    <a:rPr lang="zh-CN" altLang="zh-CN" sz="18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zh-CN" altLang="zh-CN" sz="1800" i="1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1800" i="1">
                                          <a:effectLst/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sz="1800" i="1"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sub>
                      </m:sSub>
                      <m:sSubSup>
                        <m:sSubSupPr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</m:sup>
                      </m:sSubSup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 </m:t>
                      </m:r>
                      <m:sSubSup>
                        <m:sSubSupPr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</m:sup>
                      </m:sSubSup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− </m:t>
                      </m:r>
                      <m:sSub>
                        <m:sSubPr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</m:sub>
                      </m:sSub>
                      <m:sSubSup>
                        <m:sSubSupPr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33F98F03-1537-44AD-A57D-58A604B014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6799576"/>
                <a:ext cx="4343400" cy="1762767"/>
              </a:xfrm>
              <a:prstGeom prst="rect">
                <a:avLst/>
              </a:prstGeom>
              <a:blipFill>
                <a:blip r:embed="rId7"/>
                <a:stretch>
                  <a:fillRect t="-13448" b="-634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87AA7654-EEE9-42C7-AF3D-573806D42B39}"/>
              </a:ext>
            </a:extLst>
          </p:cNvPr>
          <p:cNvCxnSpPr/>
          <p:nvPr/>
        </p:nvCxnSpPr>
        <p:spPr>
          <a:xfrm>
            <a:off x="4983480" y="1463040"/>
            <a:ext cx="1234440" cy="0"/>
          </a:xfrm>
          <a:prstGeom prst="line">
            <a:avLst/>
          </a:prstGeom>
          <a:ln w="2286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9242C5DC-54B6-4BAE-8694-B3C85FE354AD}"/>
              </a:ext>
            </a:extLst>
          </p:cNvPr>
          <p:cNvCxnSpPr/>
          <p:nvPr/>
        </p:nvCxnSpPr>
        <p:spPr>
          <a:xfrm>
            <a:off x="9326880" y="2377440"/>
            <a:ext cx="0" cy="594360"/>
          </a:xfrm>
          <a:prstGeom prst="line">
            <a:avLst/>
          </a:prstGeom>
          <a:ln w="2286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491E6463-1C0D-4540-8DE2-92A111E3F5EC}"/>
              </a:ext>
            </a:extLst>
          </p:cNvPr>
          <p:cNvCxnSpPr/>
          <p:nvPr/>
        </p:nvCxnSpPr>
        <p:spPr>
          <a:xfrm>
            <a:off x="4434840" y="3566160"/>
            <a:ext cx="960120" cy="0"/>
          </a:xfrm>
          <a:prstGeom prst="line">
            <a:avLst/>
          </a:prstGeom>
          <a:ln w="2286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91E9A976-D078-4393-A92C-E5DA4619B38C}"/>
              </a:ext>
            </a:extLst>
          </p:cNvPr>
          <p:cNvCxnSpPr/>
          <p:nvPr/>
        </p:nvCxnSpPr>
        <p:spPr>
          <a:xfrm>
            <a:off x="5394960" y="3566160"/>
            <a:ext cx="0" cy="594360"/>
          </a:xfrm>
          <a:prstGeom prst="line">
            <a:avLst/>
          </a:prstGeom>
          <a:ln w="2286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68E2A884-16D9-459E-861F-8DFC0E0AB5C0}"/>
              </a:ext>
            </a:extLst>
          </p:cNvPr>
          <p:cNvCxnSpPr/>
          <p:nvPr/>
        </p:nvCxnSpPr>
        <p:spPr>
          <a:xfrm>
            <a:off x="5394960" y="4160520"/>
            <a:ext cx="822960" cy="0"/>
          </a:xfrm>
          <a:prstGeom prst="line">
            <a:avLst/>
          </a:prstGeom>
          <a:ln w="2286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8D5BBFE4-669C-4E69-9D45-1F467CE6A3BC}"/>
              </a:ext>
            </a:extLst>
          </p:cNvPr>
          <p:cNvCxnSpPr/>
          <p:nvPr/>
        </p:nvCxnSpPr>
        <p:spPr>
          <a:xfrm>
            <a:off x="9326880" y="5349240"/>
            <a:ext cx="0" cy="1051560"/>
          </a:xfrm>
          <a:prstGeom prst="line">
            <a:avLst/>
          </a:prstGeom>
          <a:ln w="2286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ADEFE2D4-DE06-4E5F-9657-470CDA934422}"/>
              </a:ext>
            </a:extLst>
          </p:cNvPr>
          <p:cNvCxnSpPr/>
          <p:nvPr/>
        </p:nvCxnSpPr>
        <p:spPr>
          <a:xfrm flipH="1">
            <a:off x="5303520" y="7653528"/>
            <a:ext cx="960120" cy="0"/>
          </a:xfrm>
          <a:prstGeom prst="line">
            <a:avLst/>
          </a:prstGeom>
          <a:ln w="2286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67603617-0CA6-401F-BB2F-A9444196415C}"/>
              </a:ext>
            </a:extLst>
          </p:cNvPr>
          <p:cNvCxnSpPr/>
          <p:nvPr/>
        </p:nvCxnSpPr>
        <p:spPr>
          <a:xfrm flipV="1">
            <a:off x="2926080" y="5989320"/>
            <a:ext cx="0" cy="457200"/>
          </a:xfrm>
          <a:prstGeom prst="line">
            <a:avLst/>
          </a:prstGeom>
          <a:ln w="2286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2089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</Words>
  <Application>Microsoft Office PowerPoint</Application>
  <PresentationFormat>自定义</PresentationFormat>
  <Paragraphs>32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Arial</vt:lpstr>
      <vt:lpstr>Cambria Math</vt:lpstr>
      <vt:lpstr>Times New Roman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Xin ZHENG</dc:creator>
  <cp:lastModifiedBy>Xin ZHENG</cp:lastModifiedBy>
  <cp:revision>1</cp:revision>
  <dcterms:created xsi:type="dcterms:W3CDTF">2026-04-13T15:43:47Z</dcterms:created>
  <dcterms:modified xsi:type="dcterms:W3CDTF">2026-04-13T15:43:48Z</dcterms:modified>
</cp:coreProperties>
</file>