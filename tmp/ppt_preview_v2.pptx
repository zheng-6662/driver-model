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A2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E6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868680"/>
            <a:ext cx="81381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252A30"/>
                </a:solidFill>
                <a:latin typeface="Microsoft YaHei"/>
              </a:rPr>
              <a:t>模型进展组会汇报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" y="1417320"/>
            <a:ext cx="8778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616D7E"/>
                </a:solidFill>
                <a:latin typeface="Microsoft YaHei"/>
              </a:rPr>
              <a:t>核心目标：把“为什么连续改版本、每次解决了什么、现在到底卡在哪里”讲清楚。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874519"/>
            <a:ext cx="5166360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965959"/>
            <a:ext cx="4837176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 b="1">
                <a:solidFill>
                  <a:srgbClr val="3E5F8A"/>
                </a:solidFill>
                <a:latin typeface="Microsoft YaHei"/>
              </a:rPr>
              <a:t>本次汇报想回答的三个问题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304288"/>
            <a:ext cx="4663440" cy="2743200"/>
          </a:xfrm>
          <a:prstGeom prst="rect">
            <a:avLst/>
          </a:prstGeom>
          <a:noFill/>
        </p:spPr>
        <p:txBody>
          <a:bodyPr wrap="square" lIns="38100" rIns="38100" anchor="t">
            <a:sp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700">
                <a:solidFill>
                  <a:srgbClr val="252A30"/>
                </a:solidFill>
                <a:latin typeface="Microsoft YaHei"/>
              </a:rPr>
              <a:t>我的研究主线不是零散试验，而是围绕“2 s 方向盘转角预测中的关键事件对齐”持续收敛。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700">
                <a:solidFill>
                  <a:srgbClr val="252A30"/>
                </a:solidFill>
                <a:latin typeface="Microsoft YaHei"/>
              </a:rPr>
              <a:t>从 baseline 到结构化 conditioned，再到 deterministic conditioned v2，每次修改都对应一个具体问题。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700">
                <a:solidFill>
                  <a:srgbClr val="252A30"/>
                </a:solidFill>
                <a:latin typeface="Microsoft YaHei"/>
              </a:rPr>
              <a:t>当前已经能稳定预测整体趋势，主问题收敛为：关键事件仍然对不准，而不是模型完全不会预测。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874519"/>
            <a:ext cx="5394960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91072" y="1965959"/>
            <a:ext cx="5065776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 b="1">
                <a:solidFill>
                  <a:srgbClr val="3E5F8A"/>
                </a:solidFill>
                <a:latin typeface="Microsoft YaHei"/>
              </a:rPr>
              <a:t>这次重点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2331720"/>
            <a:ext cx="265176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D6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55080" y="2331720"/>
            <a:ext cx="73152" cy="914400"/>
          </a:xfrm>
          <a:prstGeom prst="rect">
            <a:avLst/>
          </a:prstGeom>
          <a:solidFill>
            <a:srgbClr val="3E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01384" y="2423160"/>
            <a:ext cx="243230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616D7E"/>
                </a:solidFill>
                <a:latin typeface="Microsoft YaHei"/>
              </a:rPr>
              <a:t>当前主推版本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01384" y="2615184"/>
            <a:ext cx="243230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3E5F8A"/>
                </a:solidFill>
                <a:latin typeface="Microsoft YaHei"/>
              </a:rPr>
              <a:t>deterministic conditioned v2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01384" y="2898648"/>
            <a:ext cx="243230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616D7E"/>
                </a:solidFill>
                <a:latin typeface="Microsoft YaHei"/>
              </a:rPr>
              <a:t>当前最平衡、最值得继续深挖的主线版本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98280" y="2331720"/>
            <a:ext cx="214884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D6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098280" y="2331720"/>
            <a:ext cx="73152" cy="914400"/>
          </a:xfrm>
          <a:prstGeom prst="rect">
            <a:avLst/>
          </a:prstGeom>
          <a:solidFill>
            <a:srgbClr val="BA51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44584" y="2423160"/>
            <a:ext cx="192938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616D7E"/>
                </a:solidFill>
                <a:latin typeface="Microsoft YaHei"/>
              </a:rPr>
              <a:t>关键修正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44584" y="2615184"/>
            <a:ext cx="192938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BA5140"/>
                </a:solidFill>
                <a:latin typeface="Microsoft YaHei"/>
              </a:rPr>
              <a:t>selection rule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44584" y="2898648"/>
            <a:ext cx="192938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616D7E"/>
                </a:solidFill>
                <a:latin typeface="Microsoft YaHei"/>
              </a:rPr>
              <a:t>直接影响 best checkpoint 是否选对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55080" y="3493008"/>
            <a:ext cx="489204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D6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55080" y="3493008"/>
            <a:ext cx="73152" cy="914400"/>
          </a:xfrm>
          <a:prstGeom prst="rect">
            <a:avLst/>
          </a:prstGeom>
          <a:solidFill>
            <a:srgbClr val="457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01384" y="3584448"/>
            <a:ext cx="467258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616D7E"/>
                </a:solidFill>
                <a:latin typeface="Microsoft YaHei"/>
              </a:rPr>
              <a:t>当前结论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01384" y="3776472"/>
            <a:ext cx="467258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457A78"/>
                </a:solidFill>
                <a:latin typeface="Microsoft YaHei"/>
              </a:rPr>
              <a:t>问题已收敛到“关键事件对齐”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01384" y="4059936"/>
            <a:ext cx="467258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616D7E"/>
                </a:solidFill>
                <a:latin typeface="Microsoft YaHei"/>
              </a:rPr>
              <a:t>interaction-only multi-hypothesis pilot 证明方向值得继续，但还不是成熟方案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6656" y="5806440"/>
            <a:ext cx="8138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616D7E"/>
                </a:solidFill>
                <a:latin typeface="Microsoft YaHei"/>
              </a:rPr>
              <a:t>汇报对象：导师 / 组会老师    口径：问题导向、结论优先、不过度包装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" y="411480"/>
            <a:ext cx="11475720" cy="6199632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8368" y="822960"/>
            <a:ext cx="99669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252A30"/>
                </a:solidFill>
                <a:latin typeface="Microsoft YaHei"/>
              </a:rPr>
              <a:t>近期驾驶员短时控制行为预测模型进展汇报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6656" y="1298448"/>
            <a:ext cx="96012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50" b="0">
                <a:solidFill>
                  <a:srgbClr val="616D7E"/>
                </a:solidFill>
                <a:latin typeface="Microsoft YaHei"/>
              </a:rPr>
              <a:t>从基础轨迹预测到结构化行为建模的阶段性进展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8368" y="1828800"/>
            <a:ext cx="5166360" cy="3657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2960" y="1920240"/>
            <a:ext cx="4837176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3E5F8A"/>
                </a:solidFill>
                <a:latin typeface="Microsoft YaHei"/>
              </a:rPr>
              <a:t>这次汇报怎么讲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8680" y="2212848"/>
            <a:ext cx="4663440" cy="2697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0000"/>
              </a:lnSpc>
              <a:spcAft>
                <a:spcPts val="900"/>
              </a:spcAft>
            </a:pPr>
            <a:r>
              <a:rPr sz="1630">
                <a:solidFill>
                  <a:srgbClr val="252A30"/>
                </a:solidFill>
                <a:latin typeface="Microsoft YaHei"/>
              </a:rPr>
              <a:t>重点不是简单罗列版本，而是围绕“当前遇到了什么问题、针对这些问题做了什么修改、效果怎么变化、现在还卡在哪里”来讲。</a:t>
            </a:r>
          </a:p>
          <a:p>
            <a:pPr>
              <a:lnSpc>
                <a:spcPct val="110000"/>
              </a:lnSpc>
              <a:spcAft>
                <a:spcPts val="900"/>
              </a:spcAft>
            </a:pPr>
            <a:r>
              <a:rPr sz="1630">
                <a:solidFill>
                  <a:srgbClr val="252A30"/>
                </a:solidFill>
                <a:latin typeface="Microsoft YaHei"/>
              </a:rPr>
              <a:t>从基础 baseline 到结构化版本，再到 deterministic conditioned v2，是一条连续演进路线，不是零散试验。</a:t>
            </a:r>
          </a:p>
          <a:p>
            <a:pPr>
              <a:lnSpc>
                <a:spcPct val="110000"/>
              </a:lnSpc>
              <a:spcAft>
                <a:spcPts val="900"/>
              </a:spcAft>
            </a:pPr>
            <a:r>
              <a:rPr sz="1630">
                <a:solidFill>
                  <a:srgbClr val="252A30"/>
                </a:solidFill>
                <a:latin typeface="Microsoft YaHei"/>
              </a:rPr>
              <a:t>当前已经能预测整体趋势，主问题收敛为：关键事件仍然对不准，而不是模型完全不会预测。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126480" y="1828800"/>
            <a:ext cx="5394960" cy="3657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91072" y="1920240"/>
            <a:ext cx="5065776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3E5F8A"/>
                </a:solidFill>
                <a:latin typeface="Microsoft YaHei"/>
              </a:rPr>
              <a:t>基本信息与重点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355080" y="2267712"/>
            <a:ext cx="1572768" cy="896112"/>
          </a:xfrm>
          <a:prstGeom prst="roundRect">
            <a:avLst/>
          </a:prstGeom>
          <a:solidFill>
            <a:srgbClr val="FFFFFF"/>
          </a:solidFill>
          <a:ln>
            <a:solidFill>
              <a:srgbClr val="D6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355080" y="2267712"/>
            <a:ext cx="73152" cy="896112"/>
          </a:xfrm>
          <a:prstGeom prst="rect">
            <a:avLst/>
          </a:prstGeom>
          <a:solidFill>
            <a:srgbClr val="457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501384" y="2340864"/>
            <a:ext cx="13716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19" b="1">
                <a:solidFill>
                  <a:srgbClr val="616D7E"/>
                </a:solidFill>
                <a:latin typeface="Microsoft YaHei"/>
              </a:rPr>
              <a:t>汇报人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01384" y="2532888"/>
            <a:ext cx="137160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50" b="1">
                <a:solidFill>
                  <a:srgbClr val="457A78"/>
                </a:solidFill>
                <a:latin typeface="Microsoft YaHei"/>
              </a:rPr>
              <a:t>小郑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01384" y="2798064"/>
            <a:ext cx="13716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19" b="0">
                <a:solidFill>
                  <a:srgbClr val="616D7E"/>
                </a:solidFill>
                <a:latin typeface="Microsoft YaHei"/>
              </a:rPr>
              <a:t>按原稿保留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046720" y="2267712"/>
            <a:ext cx="1536192" cy="896112"/>
          </a:xfrm>
          <a:prstGeom prst="roundRect">
            <a:avLst/>
          </a:prstGeom>
          <a:solidFill>
            <a:srgbClr val="FFFFFF"/>
          </a:solidFill>
          <a:ln>
            <a:solidFill>
              <a:srgbClr val="D6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046720" y="2267712"/>
            <a:ext cx="73152" cy="896112"/>
          </a:xfrm>
          <a:prstGeom prst="rect">
            <a:avLst/>
          </a:prstGeom>
          <a:solidFill>
            <a:srgbClr val="3E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193024" y="2340864"/>
            <a:ext cx="1335024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19" b="1">
                <a:solidFill>
                  <a:srgbClr val="616D7E"/>
                </a:solidFill>
                <a:latin typeface="Microsoft YaHei"/>
              </a:rPr>
              <a:t>时间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193024" y="2532888"/>
            <a:ext cx="1335024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50" b="1">
                <a:solidFill>
                  <a:srgbClr val="3E5F8A"/>
                </a:solidFill>
                <a:latin typeface="Microsoft YaHei"/>
              </a:rPr>
              <a:t>2026.03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193024" y="2798064"/>
            <a:ext cx="1335024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19" b="0">
                <a:solidFill>
                  <a:srgbClr val="616D7E"/>
                </a:solidFill>
                <a:latin typeface="Microsoft YaHei"/>
              </a:rPr>
              <a:t>组会汇报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9692640" y="2267712"/>
            <a:ext cx="1554480" cy="896112"/>
          </a:xfrm>
          <a:prstGeom prst="roundRect">
            <a:avLst/>
          </a:prstGeom>
          <a:solidFill>
            <a:srgbClr val="FFFFFF"/>
          </a:solidFill>
          <a:ln>
            <a:solidFill>
              <a:srgbClr val="D6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9692640" y="2267712"/>
            <a:ext cx="73152" cy="896112"/>
          </a:xfrm>
          <a:prstGeom prst="rect">
            <a:avLst/>
          </a:prstGeom>
          <a:solidFill>
            <a:srgbClr val="BA51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838944" y="2340864"/>
            <a:ext cx="1353312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19" b="1">
                <a:solidFill>
                  <a:srgbClr val="616D7E"/>
                </a:solidFill>
                <a:latin typeface="Microsoft YaHei"/>
              </a:rPr>
              <a:t>主推版本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838944" y="2532888"/>
            <a:ext cx="1353312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50" b="1">
                <a:solidFill>
                  <a:srgbClr val="BA5140"/>
                </a:solidFill>
                <a:latin typeface="Microsoft YaHei"/>
              </a:rPr>
              <a:t>det v2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838944" y="2798064"/>
            <a:ext cx="1353312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19" b="0">
                <a:solidFill>
                  <a:srgbClr val="616D7E"/>
                </a:solidFill>
                <a:latin typeface="Microsoft YaHei"/>
              </a:rPr>
              <a:t>当前主版本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355080" y="3401568"/>
            <a:ext cx="4892040" cy="987552"/>
          </a:xfrm>
          <a:prstGeom prst="roundRect">
            <a:avLst/>
          </a:prstGeom>
          <a:solidFill>
            <a:srgbClr val="FFFFFF"/>
          </a:solidFill>
          <a:ln>
            <a:solidFill>
              <a:srgbClr val="D6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355080" y="3401568"/>
            <a:ext cx="73152" cy="987552"/>
          </a:xfrm>
          <a:prstGeom prst="rect">
            <a:avLst/>
          </a:prstGeom>
          <a:solidFill>
            <a:srgbClr val="3E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501384" y="3474720"/>
            <a:ext cx="4690872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19" b="1">
                <a:solidFill>
                  <a:srgbClr val="616D7E"/>
                </a:solidFill>
                <a:latin typeface="Microsoft YaHei"/>
              </a:rPr>
              <a:t>研究主题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501384" y="3675888"/>
            <a:ext cx="4690872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3E5F8A"/>
                </a:solidFill>
                <a:latin typeface="Microsoft YaHei"/>
              </a:rPr>
              <a:t>极限 / 高风险驾驶情境下驾驶员短时控制行为
预测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501384" y="903020740056"/>
            <a:ext cx="4690872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80" b="0">
                <a:solidFill>
                  <a:srgbClr val="616D7E"/>
                </a:solidFill>
                <a:latin typeface="Microsoft YaHei"/>
              </a:rPr>
              <a:t>核心是“行为预测”，不是单纯未来曲线拟合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6355080" y="4553712"/>
            <a:ext cx="4892040" cy="932688"/>
          </a:xfrm>
          <a:prstGeom prst="roundRect">
            <a:avLst/>
          </a:prstGeom>
          <a:solidFill>
            <a:srgbClr val="FFFFFF"/>
          </a:solidFill>
          <a:ln>
            <a:solidFill>
              <a:srgbClr val="D6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6355080" y="4553712"/>
            <a:ext cx="73152" cy="932688"/>
          </a:xfrm>
          <a:prstGeom prst="rect">
            <a:avLst/>
          </a:prstGeom>
          <a:solidFill>
            <a:srgbClr val="457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501384" y="4626864"/>
            <a:ext cx="4690872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19" b="1">
                <a:solidFill>
                  <a:srgbClr val="616D7E"/>
                </a:solidFill>
                <a:latin typeface="Microsoft YaHei"/>
              </a:rPr>
              <a:t>汇报目标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501384" y="4828032"/>
            <a:ext cx="4690872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40" b="1">
                <a:solidFill>
                  <a:srgbClr val="457A78"/>
                </a:solidFill>
                <a:latin typeface="Microsoft YaHei"/>
              </a:rPr>
              <a:t>让老师听明白：目前做到哪一步、
为什么这样改、结果到底怎么样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501384" y="852854250600"/>
            <a:ext cx="4690872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80" b="0">
                <a:solidFill>
                  <a:srgbClr val="616D7E"/>
                </a:solidFill>
                <a:latin typeface="Microsoft YaHei"/>
              </a:rPr>
              <a:t>清楚、扎实、问题导向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76656" y="5870448"/>
            <a:ext cx="87782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19" b="0">
                <a:solidFill>
                  <a:srgbClr val="616D7E"/>
                </a:solidFill>
                <a:latin typeface="Microsoft YaHei"/>
              </a:rPr>
              <a:t>汇报对象：导师 / 组会老师    风格：学术、简洁、清晰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A2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E6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896112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252A30"/>
                </a:solidFill>
                <a:latin typeface="Microsoft YaHei"/>
              </a:rPr>
              <a:t>研究主线与版本演进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987552"/>
            <a:ext cx="98755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616D7E"/>
                </a:solidFill>
                <a:latin typeface="Microsoft YaHei"/>
              </a:rPr>
              <a:t>按“发现问题 -&gt; 修改机制 -&gt; 修正评估 -&gt; 收敛主版本”的逻辑看，而不是把实验当成孤立试错。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566928"/>
            <a:ext cx="4114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>
                <a:solidFill>
                  <a:srgbClr val="616D7E"/>
                </a:solidFill>
                <a:latin typeface="Aptos"/>
              </a:rPr>
              <a:t>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691640"/>
            <a:ext cx="2148840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13816" y="1856232"/>
            <a:ext cx="384048" cy="384048"/>
          </a:xfrm>
          <a:prstGeom prst="ellipse">
            <a:avLst/>
          </a:prstGeom>
          <a:solidFill>
            <a:srgbClr val="3E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98448" y="1828800"/>
            <a:ext cx="1325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52A30"/>
                </a:solidFill>
                <a:latin typeface="Microsoft YaHei"/>
              </a:rPr>
              <a:t>1. 基础 baseline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2104" y="2350008"/>
            <a:ext cx="1828800" cy="93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16D7E"/>
                </a:solidFill>
                <a:latin typeface="Microsoft YaHei"/>
              </a:rPr>
              <a:t>先确认模型能否学到 2 s 整体转角趋势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2104" y="3566159"/>
            <a:ext cx="1847088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0">
                <a:solidFill>
                  <a:srgbClr val="252A30"/>
                </a:solidFill>
                <a:latin typeface="Microsoft YaHei"/>
              </a:rPr>
              <a:t>整体趋势能学到，但 tail / turning / reversal 对不准</a:t>
            </a:r>
          </a:p>
        </p:txBody>
      </p:sp>
      <p:sp>
        <p:nvSpPr>
          <p:cNvPr id="12" name="Chevron 11"/>
          <p:cNvSpPr/>
          <p:nvPr/>
        </p:nvSpPr>
        <p:spPr>
          <a:xfrm>
            <a:off x="2715768" y="3227832"/>
            <a:ext cx="201168" cy="256032"/>
          </a:xfrm>
          <a:prstGeom prst="chevron">
            <a:avLst/>
          </a:prstGeom>
          <a:solidFill>
            <a:srgbClr val="D6DC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926080" y="1691640"/>
            <a:ext cx="2148840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054096" y="1856232"/>
            <a:ext cx="384048" cy="384048"/>
          </a:xfrm>
          <a:prstGeom prst="ellipse">
            <a:avLst/>
          </a:prstGeom>
          <a:solidFill>
            <a:srgbClr val="3E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38728" y="1828800"/>
            <a:ext cx="1325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52A30"/>
                </a:solidFill>
                <a:latin typeface="Microsoft YaHei"/>
              </a:rPr>
              <a:t>2. 第一代结构化版本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72384" y="2350008"/>
            <a:ext cx="1828800" cy="93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16D7E"/>
                </a:solidFill>
                <a:latin typeface="Microsoft YaHei"/>
              </a:rPr>
              <a:t>把事件信息显式注入轨迹预测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72384" y="3566159"/>
            <a:ext cx="1847088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0">
                <a:solidFill>
                  <a:srgbClr val="252A30"/>
                </a:solidFill>
                <a:latin typeface="Microsoft YaHei"/>
              </a:rPr>
              <a:t>局部结构开始改善，但收益不稳定</a:t>
            </a:r>
          </a:p>
        </p:txBody>
      </p:sp>
      <p:sp>
        <p:nvSpPr>
          <p:cNvPr id="18" name="Chevron 17"/>
          <p:cNvSpPr/>
          <p:nvPr/>
        </p:nvSpPr>
        <p:spPr>
          <a:xfrm>
            <a:off x="4956048" y="3227832"/>
            <a:ext cx="201168" cy="256032"/>
          </a:xfrm>
          <a:prstGeom prst="chevron">
            <a:avLst/>
          </a:prstGeom>
          <a:solidFill>
            <a:srgbClr val="D6DC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166360" y="1691640"/>
            <a:ext cx="2148840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294376" y="1856232"/>
            <a:ext cx="384048" cy="384048"/>
          </a:xfrm>
          <a:prstGeom prst="ellipse">
            <a:avLst/>
          </a:prstGeom>
          <a:solidFill>
            <a:srgbClr val="3E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779008" y="1828800"/>
            <a:ext cx="1325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52A30"/>
                </a:solidFill>
                <a:latin typeface="Microsoft YaHei"/>
              </a:rPr>
              <a:t>3. selection rule 修正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12664" y="2350008"/>
            <a:ext cx="1828800" cy="93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16D7E"/>
                </a:solidFill>
                <a:latin typeface="Microsoft YaHei"/>
              </a:rPr>
              <a:t>避免用 0-1.5 s 主 RMSE 选错 checkpoint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12664" y="3566159"/>
            <a:ext cx="1847088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0">
                <a:solidFill>
                  <a:srgbClr val="252A30"/>
                </a:solidFill>
                <a:latin typeface="Microsoft YaHei"/>
              </a:rPr>
              <a:t>评估目标开始和研究目标一致</a:t>
            </a:r>
          </a:p>
        </p:txBody>
      </p:sp>
      <p:sp>
        <p:nvSpPr>
          <p:cNvPr id="24" name="Chevron 23"/>
          <p:cNvSpPr/>
          <p:nvPr/>
        </p:nvSpPr>
        <p:spPr>
          <a:xfrm>
            <a:off x="7196328" y="3227832"/>
            <a:ext cx="201168" cy="256032"/>
          </a:xfrm>
          <a:prstGeom prst="chevron">
            <a:avLst/>
          </a:prstGeom>
          <a:solidFill>
            <a:srgbClr val="D6DC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406640" y="1691640"/>
            <a:ext cx="2148840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534656" y="1856232"/>
            <a:ext cx="384048" cy="384048"/>
          </a:xfrm>
          <a:prstGeom prst="ellipse">
            <a:avLst/>
          </a:prstGeom>
          <a:solidFill>
            <a:srgbClr val="457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19288" y="1828800"/>
            <a:ext cx="1325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52A30"/>
                </a:solidFill>
                <a:latin typeface="Microsoft YaHei"/>
              </a:rPr>
              <a:t>4. deterministic conditioned v2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52944" y="2350008"/>
            <a:ext cx="1828800" cy="93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16D7E"/>
                </a:solidFill>
                <a:latin typeface="Microsoft YaHei"/>
              </a:rPr>
              <a:t>强化事件-轨迹耦合并让条件更可控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52944" y="3566159"/>
            <a:ext cx="1847088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1">
                <a:solidFill>
                  <a:srgbClr val="252A30"/>
                </a:solidFill>
                <a:latin typeface="Microsoft YaHei"/>
              </a:rPr>
              <a:t>目前最平衡、最适合作为主版本</a:t>
            </a:r>
          </a:p>
        </p:txBody>
      </p:sp>
      <p:sp>
        <p:nvSpPr>
          <p:cNvPr id="30" name="Chevron 29"/>
          <p:cNvSpPr/>
          <p:nvPr/>
        </p:nvSpPr>
        <p:spPr>
          <a:xfrm>
            <a:off x="9436608" y="3227832"/>
            <a:ext cx="201168" cy="256032"/>
          </a:xfrm>
          <a:prstGeom prst="chevron">
            <a:avLst/>
          </a:prstGeom>
          <a:solidFill>
            <a:srgbClr val="D6DC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9646920" y="1691640"/>
            <a:ext cx="2148840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9774936" y="1856232"/>
            <a:ext cx="384048" cy="384048"/>
          </a:xfrm>
          <a:prstGeom prst="ellipse">
            <a:avLst/>
          </a:prstGeom>
          <a:solidFill>
            <a:srgbClr val="457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259568" y="1828800"/>
            <a:ext cx="1325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52A30"/>
                </a:solidFill>
                <a:latin typeface="Microsoft YaHei"/>
              </a:rPr>
              <a:t>5. interaction-only multihyp pilot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793224" y="2350008"/>
            <a:ext cx="1828800" cy="93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16D7E"/>
                </a:solidFill>
                <a:latin typeface="Microsoft YaHei"/>
              </a:rPr>
              <a:t>验证交互场景是否真的需要多假设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793224" y="3566159"/>
            <a:ext cx="1847088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0">
                <a:solidFill>
                  <a:srgbClr val="252A30"/>
                </a:solidFill>
                <a:latin typeface="Microsoft YaHei"/>
              </a:rPr>
              <a:t>oracle 有收益，说明方向值得继续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68096" y="5486400"/>
            <a:ext cx="10789920" cy="713232"/>
          </a:xfrm>
          <a:prstGeom prst="roundRect">
            <a:avLst/>
          </a:prstGeom>
          <a:solidFill>
            <a:srgbClr val="ECF2F8"/>
          </a:solidFill>
          <a:ln w="12700">
            <a:solidFill>
              <a:srgbClr val="D6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60120" y="5650992"/>
            <a:ext cx="103327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2B44"/>
                </a:solidFill>
                <a:latin typeface="Microsoft YaHei"/>
              </a:rPr>
              <a:t>主线结论：模型已经从“学不到”过渡到“能学到，但关键事件仍偏移”；因此后续工作不再是盲目堆模型，而是继续缩小事件锚点误差。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65760" y="411480"/>
            <a:ext cx="11475720" cy="6199632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30352" y="566928"/>
            <a:ext cx="77724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252A30"/>
                </a:solidFill>
                <a:latin typeface="Microsoft YaHei"/>
              </a:rPr>
              <a:t>当前研究目标与核心问题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8640" y="960120"/>
            <a:ext cx="1060704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616D7E"/>
                </a:solidFill>
                <a:latin typeface="Microsoft YaHei"/>
              </a:rPr>
              <a:t>任务已经从“预测未来 2 秒曲线”进一步收敛为“预测驾驶员短时控制行为”。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58368" y="1572768"/>
            <a:ext cx="539496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22960" y="1664208"/>
            <a:ext cx="5065776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3E5F8A"/>
                </a:solidFill>
                <a:latin typeface="Microsoft YaHei"/>
              </a:rPr>
              <a:t>研究目标 / 当前主任务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68680" y="1938528"/>
            <a:ext cx="4892040" cy="2697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0000"/>
              </a:lnSpc>
              <a:spcAft>
                <a:spcPts val="900"/>
              </a:spcAft>
            </a:pPr>
            <a:r>
              <a:rPr sz="1490">
                <a:solidFill>
                  <a:srgbClr val="252A30"/>
                </a:solidFill>
                <a:latin typeface="Microsoft YaHei"/>
              </a:rPr>
              <a:t>目标不是单纯拟合一条未来曲线，而是希望在危险 / 失稳情境下预测驾驶员接下来短时间内的控制行为。</a:t>
            </a:r>
          </a:p>
          <a:p>
            <a:pPr>
              <a:lnSpc>
                <a:spcPct val="110000"/>
              </a:lnSpc>
              <a:spcAft>
                <a:spcPts val="900"/>
              </a:spcAft>
            </a:pPr>
            <a:r>
              <a:rPr sz="1490">
                <a:solidFill>
                  <a:srgbClr val="252A30"/>
                </a:solidFill>
                <a:latin typeface="Microsoft YaHei"/>
              </a:rPr>
              <a:t>重点关注方向盘控制变化，并尽量让预测结果在趋势、关键动作和整体形态上接近真实驾驶员反应。</a:t>
            </a:r>
          </a:p>
          <a:p>
            <a:pPr>
              <a:lnSpc>
                <a:spcPct val="110000"/>
              </a:lnSpc>
              <a:spcAft>
                <a:spcPts val="900"/>
              </a:spcAft>
            </a:pPr>
            <a:r>
              <a:rPr sz="1490">
                <a:solidFill>
                  <a:srgbClr val="252A30"/>
                </a:solidFill>
                <a:latin typeface="Microsoft YaHei"/>
              </a:rPr>
              <a:t>输入：车辆历史状态、道路 / 场景相关实时信号；输出：未来短时间尺度内的方向盘控制轨迹，必要时辅以速度变化。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199632" y="1572768"/>
            <a:ext cx="5321808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364224" y="1664208"/>
            <a:ext cx="4992624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3E5F8A"/>
                </a:solidFill>
                <a:latin typeface="Microsoft YaHei"/>
              </a:rPr>
              <a:t>当前识别出的主要问题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19088" y="1938528"/>
            <a:ext cx="4828032" cy="2651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0000"/>
              </a:lnSpc>
              <a:spcAft>
                <a:spcPts val="900"/>
              </a:spcAft>
            </a:pPr>
            <a:r>
              <a:rPr sz="1490">
                <a:solidFill>
                  <a:srgbClr val="252A30"/>
                </a:solidFill>
                <a:latin typeface="Microsoft YaHei"/>
              </a:rPr>
              <a:t>基础模型前段有时能够跟上一部分趋势，但后段容易偏离真实轨迹。</a:t>
            </a:r>
          </a:p>
          <a:p>
            <a:pPr>
              <a:lnSpc>
                <a:spcPct val="110000"/>
              </a:lnSpc>
              <a:spcAft>
                <a:spcPts val="900"/>
              </a:spcAft>
            </a:pPr>
            <a:r>
              <a:rPr sz="1490">
                <a:solidFill>
                  <a:srgbClr val="252A30"/>
                </a:solidFill>
                <a:latin typeface="Microsoft YaHei"/>
              </a:rPr>
              <a:t>关键事件预测不准，主要体现在起转时机、主峰位置、反打 / 纠偏幅度等方面。</a:t>
            </a:r>
          </a:p>
          <a:p>
            <a:pPr>
              <a:lnSpc>
                <a:spcPct val="110000"/>
              </a:lnSpc>
              <a:spcAft>
                <a:spcPts val="900"/>
              </a:spcAft>
            </a:pPr>
            <a:r>
              <a:rPr sz="1490">
                <a:solidFill>
                  <a:srgbClr val="252A30"/>
                </a:solidFill>
                <a:latin typeface="Microsoft YaHei"/>
              </a:rPr>
              <a:t>在 interaction 等高歧义场景下，单一输出容易形成折中结果，不够像真实驾驶员行为。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841248" y="5559552"/>
            <a:ext cx="10561320" cy="548640"/>
          </a:xfrm>
          <a:prstGeom prst="roundRect">
            <a:avLst/>
          </a:prstGeom>
          <a:solidFill>
            <a:srgbClr val="EC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060704" y="5715000"/>
            <a:ext cx="100584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20" b="1">
                <a:solidFill>
                  <a:srgbClr val="1A2B44"/>
                </a:solidFill>
                <a:latin typeface="Microsoft YaHei"/>
              </a:rPr>
              <a:t>讲述重点：目前最主要的问题，不只是整体跟踪不稳，更重要的是关键动作不准；interaction 场景还提示这个问题可能天然存在多种合理未来。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A2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E6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896112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252A30"/>
                </a:solidFill>
                <a:latin typeface="Microsoft YaHei"/>
              </a:rPr>
              <a:t>基础 Baseline：已学到整体趋势，但关键事件仍然对不准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987552"/>
            <a:ext cx="98755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616D7E"/>
                </a:solidFill>
                <a:latin typeface="Microsoft YaHei"/>
              </a:rPr>
              <a:t>代表图使用项目现有的预测-真实方向盘转角曲线对比。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566928"/>
            <a:ext cx="4114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>
                <a:solidFill>
                  <a:srgbClr val="616D7E"/>
                </a:solidFill>
                <a:latin typeface="Aptos"/>
              </a:rPr>
              <a:t>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444752"/>
            <a:ext cx="384048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536192"/>
            <a:ext cx="3511296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 b="1">
                <a:solidFill>
                  <a:srgbClr val="3E5F8A"/>
                </a:solidFill>
                <a:latin typeface="Microsoft YaHei"/>
              </a:rPr>
              <a:t>我先用 baseline 想回答什么问题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" y="1828800"/>
            <a:ext cx="3438144" cy="2240280"/>
          </a:xfrm>
          <a:prstGeom prst="rect">
            <a:avLst/>
          </a:prstGeom>
          <a:noFill/>
        </p:spPr>
        <p:txBody>
          <a:bodyPr wrap="square" lIns="38100" rIns="38100" anchor="t">
            <a:sp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550">
                <a:solidFill>
                  <a:srgbClr val="252A30"/>
                </a:solidFill>
                <a:latin typeface="Microsoft YaHei"/>
              </a:rPr>
              <a:t>先确认纯 2 s 监督下，模型是否至少能学到方向盘转角的整体变化趋势。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550">
                <a:solidFill>
                  <a:srgbClr val="252A30"/>
                </a:solidFill>
                <a:latin typeface="Microsoft YaHei"/>
              </a:rPr>
              <a:t>如果 baseline 连整体都学不到，后面的结构化设计就没有意义。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550">
                <a:solidFill>
                  <a:srgbClr val="252A30"/>
                </a:solidFill>
                <a:latin typeface="Microsoft YaHei"/>
              </a:rPr>
              <a:t>因此 baseline 的作用不是追求最终最优，而是给后续修改提供参照系。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4407408"/>
            <a:ext cx="155448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D6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4407408"/>
            <a:ext cx="73152" cy="868680"/>
          </a:xfrm>
          <a:prstGeom prst="rect">
            <a:avLst/>
          </a:prstGeom>
          <a:solidFill>
            <a:srgbClr val="3E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23544" y="4498848"/>
            <a:ext cx="133502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616D7E"/>
                </a:solidFill>
                <a:latin typeface="Microsoft YaHei"/>
              </a:rPr>
              <a:t>2 s RMSE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544" y="4690872"/>
            <a:ext cx="133502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3E5F8A"/>
                </a:solidFill>
                <a:latin typeface="Microsoft YaHei"/>
              </a:rPr>
              <a:t>0.381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3544" y="4974336"/>
            <a:ext cx="133502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616D7E"/>
                </a:solidFill>
                <a:latin typeface="Microsoft YaHei"/>
              </a:rPr>
              <a:t>同一评估协议下的 unconditional baseline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450592" y="4407408"/>
            <a:ext cx="178308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D6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450592" y="4407408"/>
            <a:ext cx="73152" cy="868680"/>
          </a:xfrm>
          <a:prstGeom prst="rect">
            <a:avLst/>
          </a:prstGeom>
          <a:solidFill>
            <a:srgbClr val="BA51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596896" y="4498848"/>
            <a:ext cx="156362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616D7E"/>
                </a:solidFill>
                <a:latin typeface="Microsoft YaHei"/>
              </a:rPr>
              <a:t>Tail RMSE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96896" y="4690872"/>
            <a:ext cx="156362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BA5140"/>
                </a:solidFill>
                <a:latin typeface="Microsoft YaHei"/>
              </a:rPr>
              <a:t>0.398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96896" y="4974336"/>
            <a:ext cx="156362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616D7E"/>
                </a:solidFill>
                <a:latin typeface="Microsoft YaHei"/>
              </a:rPr>
              <a:t>1.5-2.0 s 尾段误差偏大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" y="5321808"/>
            <a:ext cx="155448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D6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77240" y="5321808"/>
            <a:ext cx="73152" cy="868680"/>
          </a:xfrm>
          <a:prstGeom prst="rect">
            <a:avLst/>
          </a:prstGeom>
          <a:solidFill>
            <a:srgbClr val="BA51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3544" y="5413248"/>
            <a:ext cx="133502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616D7E"/>
                </a:solidFill>
                <a:latin typeface="Microsoft YaHei"/>
              </a:rPr>
              <a:t>Tail Trend Corr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3544" y="5605272"/>
            <a:ext cx="133502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BA5140"/>
                </a:solidFill>
                <a:latin typeface="Microsoft YaHei"/>
              </a:rPr>
              <a:t>0.066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3544" y="5888736"/>
            <a:ext cx="133502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616D7E"/>
                </a:solidFill>
                <a:latin typeface="Microsoft YaHei"/>
              </a:rPr>
              <a:t>尾段趋势相关性很弱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450592" y="5321808"/>
            <a:ext cx="178308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D6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450592" y="5321808"/>
            <a:ext cx="73152" cy="868680"/>
          </a:xfrm>
          <a:prstGeom prst="rect">
            <a:avLst/>
          </a:prstGeom>
          <a:solidFill>
            <a:srgbClr val="BA51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596896" y="5413248"/>
            <a:ext cx="156362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616D7E"/>
                </a:solidFill>
                <a:latin typeface="Microsoft YaHei"/>
              </a:rPr>
              <a:t>Turning Count Err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596896" y="5605272"/>
            <a:ext cx="156362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BA5140"/>
                </a:solidFill>
                <a:latin typeface="Microsoft YaHei"/>
              </a:rPr>
              <a:t>1.77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596896" y="5888736"/>
            <a:ext cx="156362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616D7E"/>
                </a:solidFill>
                <a:latin typeface="Microsoft YaHei"/>
              </a:rPr>
              <a:t>转折次数经常对不上</a:t>
            </a:r>
          </a:p>
        </p:txBody>
      </p:sp>
      <p:pic>
        <p:nvPicPr>
          <p:cNvPr id="30" name="Picture 29" descr="pred_vs_gt_examples_old_sampling_seed2026_steer_onl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1728" y="1572768"/>
            <a:ext cx="6812280" cy="4187952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4736592" y="5797296"/>
            <a:ext cx="6583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616D7E"/>
                </a:solidFill>
                <a:latin typeface="Microsoft YaHei"/>
              </a:rPr>
              <a:t>图：基础 baseline 的代表性预测-真实方向盘转角曲线对比（项目现有结果图）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A2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E6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896112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252A30"/>
                </a:solidFill>
                <a:latin typeface="Microsoft YaHei"/>
              </a:rPr>
              <a:t>第一代结构化版本：把事件信息显式注入轨迹预测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987552"/>
            <a:ext cx="98755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616D7E"/>
                </a:solidFill>
                <a:latin typeface="Microsoft YaHei"/>
              </a:rPr>
              <a:t>这一版的意义在于把问题从“纯回归”转成“事件引导的轨迹生成”。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566928"/>
            <a:ext cx="4114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>
                <a:solidFill>
                  <a:srgbClr val="616D7E"/>
                </a:solidFill>
                <a:latin typeface="Aptos"/>
              </a:rPr>
              <a:t>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417320"/>
            <a:ext cx="3931920" cy="4617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508760"/>
            <a:ext cx="3602736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 b="1">
                <a:solidFill>
                  <a:srgbClr val="3E5F8A"/>
                </a:solidFill>
                <a:latin typeface="Microsoft YaHei"/>
              </a:rPr>
              <a:t>这一版具体改了什么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" y="1810512"/>
            <a:ext cx="3547872" cy="2103120"/>
          </a:xfrm>
          <a:prstGeom prst="rect">
            <a:avLst/>
          </a:prstGeom>
          <a:noFill/>
        </p:spPr>
        <p:txBody>
          <a:bodyPr wrap="square" lIns="38100" rIns="38100" anchor="t">
            <a:sp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500">
                <a:solidFill>
                  <a:srgbClr val="252A30"/>
                </a:solidFill>
                <a:latin typeface="Microsoft YaHei"/>
              </a:rPr>
              <a:t>在 baseline 上加入事件条件，让模型不只看历史轨迹，还显式接收 turn onset / peak / reversal 等结构信息。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500">
                <a:solidFill>
                  <a:srgbClr val="252A30"/>
                </a:solidFill>
                <a:latin typeface="Microsoft YaHei"/>
              </a:rPr>
              <a:t>目的不是简单加特征，而是希望模型在关键节点附近更敢于拐、该回的时候能回。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500">
                <a:solidFill>
                  <a:srgbClr val="252A30"/>
                </a:solidFill>
                <a:latin typeface="Microsoft YaHei"/>
              </a:rPr>
              <a:t>这一版已经出现明显的结构收益，但收益并不稳定。不同切片上表现分化较大。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8096" y="4279392"/>
            <a:ext cx="1700784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D6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8096" y="4279392"/>
            <a:ext cx="73152" cy="868680"/>
          </a:xfrm>
          <a:prstGeom prst="rect">
            <a:avLst/>
          </a:prstGeom>
          <a:solidFill>
            <a:srgbClr val="2A6E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370832"/>
            <a:ext cx="148132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616D7E"/>
                </a:solidFill>
                <a:latin typeface="Microsoft YaHei"/>
              </a:rPr>
              <a:t>Primary Tail RMSE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562856"/>
            <a:ext cx="148132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A6E5D"/>
                </a:solidFill>
                <a:latin typeface="Microsoft YaHei"/>
              </a:rPr>
              <a:t>0.390 -&gt; 0.349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846320"/>
            <a:ext cx="148132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616D7E"/>
                </a:solidFill>
                <a:latin typeface="Microsoft YaHei"/>
              </a:rPr>
              <a:t>primary 子集尾段误差明显下降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578608" y="4279392"/>
            <a:ext cx="1700784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D6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578608" y="4279392"/>
            <a:ext cx="73152" cy="868680"/>
          </a:xfrm>
          <a:prstGeom prst="rect">
            <a:avLst/>
          </a:prstGeom>
          <a:solidFill>
            <a:srgbClr val="2A6E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24912" y="4370832"/>
            <a:ext cx="148132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616D7E"/>
                </a:solidFill>
                <a:latin typeface="Microsoft YaHei"/>
              </a:rPr>
              <a:t>Interaction Tail RMSE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24912" y="4562856"/>
            <a:ext cx="148132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A6E5D"/>
                </a:solidFill>
                <a:latin typeface="Microsoft YaHei"/>
              </a:rPr>
              <a:t>0.495 -&gt; 0.436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24912" y="4846320"/>
            <a:ext cx="148132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616D7E"/>
                </a:solidFill>
                <a:latin typeface="Microsoft YaHei"/>
              </a:rPr>
              <a:t>interaction 切片也有收益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68096" y="5230368"/>
            <a:ext cx="1700784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D6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68096" y="5230368"/>
            <a:ext cx="73152" cy="868680"/>
          </a:xfrm>
          <a:prstGeom prst="rect">
            <a:avLst/>
          </a:prstGeom>
          <a:solidFill>
            <a:srgbClr val="BA51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5321808"/>
            <a:ext cx="148132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616D7E"/>
                </a:solidFill>
                <a:latin typeface="Microsoft YaHei"/>
              </a:rPr>
              <a:t>Overall 2 s RMSE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5513832"/>
            <a:ext cx="148132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BA5140"/>
                </a:solidFill>
                <a:latin typeface="Microsoft YaHei"/>
              </a:rPr>
              <a:t>0.381 -&gt; 0.388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5797296"/>
            <a:ext cx="148132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616D7E"/>
                </a:solidFill>
                <a:latin typeface="Microsoft YaHei"/>
              </a:rPr>
              <a:t>全局误差未必同步变好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578608" y="5230368"/>
            <a:ext cx="1700784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D6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578608" y="5230368"/>
            <a:ext cx="73152" cy="868680"/>
          </a:xfrm>
          <a:prstGeom prst="rect">
            <a:avLst/>
          </a:prstGeom>
          <a:solidFill>
            <a:srgbClr val="BA51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724912" y="5321808"/>
            <a:ext cx="148132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616D7E"/>
                </a:solidFill>
                <a:latin typeface="Microsoft YaHei"/>
              </a:rPr>
              <a:t>Tail Trend Corr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24912" y="5513832"/>
            <a:ext cx="148132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BA5140"/>
                </a:solidFill>
                <a:latin typeface="Microsoft YaHei"/>
              </a:rPr>
              <a:t>0.066 -&gt; 0.026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724912" y="5797296"/>
            <a:ext cx="148132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616D7E"/>
                </a:solidFill>
                <a:latin typeface="Microsoft YaHei"/>
              </a:rPr>
              <a:t>事件对齐仍然不稳定</a:t>
            </a:r>
          </a:p>
        </p:txBody>
      </p:sp>
      <p:pic>
        <p:nvPicPr>
          <p:cNvPr id="30" name="Picture 29" descr="representative_samples_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9160" y="1572768"/>
            <a:ext cx="6766560" cy="4187952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4754880" y="5788152"/>
            <a:ext cx="6492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616D7E"/>
                </a:solidFill>
                <a:latin typeface="Microsoft YaHei"/>
              </a:rPr>
              <a:t>图：第一代结构化版本代表图。可以看到部分转折结构更像，但稳定性仍不够。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A2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E6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896112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252A30"/>
                </a:solidFill>
                <a:latin typeface="Microsoft YaHei"/>
              </a:rPr>
              <a:t>selection rule 修正：先把 best checkpoint 选对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987552"/>
            <a:ext cx="98755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616D7E"/>
                </a:solidFill>
                <a:latin typeface="Microsoft YaHei"/>
              </a:rPr>
              <a:t>这一步很关键，因为如果 checkpoint 选错，后面所有版本判断都会失真。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566928"/>
            <a:ext cx="4114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>
                <a:solidFill>
                  <a:srgbClr val="616D7E"/>
                </a:solidFill>
                <a:latin typeface="Aptos"/>
              </a:rPr>
              <a:t>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417320"/>
            <a:ext cx="388620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508760"/>
            <a:ext cx="3557016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 b="1">
                <a:solidFill>
                  <a:srgbClr val="3E5F8A"/>
                </a:solidFill>
                <a:latin typeface="Microsoft YaHei"/>
              </a:rPr>
              <a:t>为什么必须改 selection rule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" y="1810512"/>
            <a:ext cx="3456432" cy="2286000"/>
          </a:xfrm>
          <a:prstGeom prst="rect">
            <a:avLst/>
          </a:prstGeom>
          <a:noFill/>
        </p:spPr>
        <p:txBody>
          <a:bodyPr wrap="square" lIns="38100" rIns="38100" anchor="t">
            <a:sp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500">
                <a:solidFill>
                  <a:srgbClr val="252A30"/>
                </a:solidFill>
                <a:latin typeface="Microsoft YaHei"/>
              </a:rPr>
              <a:t>训练审计发现：原来的 best checkpoint 由 val sample-weighted overall primary steer RMSE 决定，本质上更偏 0-1.5 s 指标。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500">
                <a:solidFill>
                  <a:srgbClr val="252A30"/>
                </a:solidFill>
                <a:latin typeface="Microsoft YaHei"/>
              </a:rPr>
              <a:t>但我的研究目标已经转向 tail / turning / boundary continuity，所以旧规则会把“看起来 RMSE 更低、但结构更差”的模型选出来。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500">
                <a:solidFill>
                  <a:srgbClr val="252A30"/>
                </a:solidFill>
                <a:latin typeface="Microsoft YaHei"/>
              </a:rPr>
              <a:t>修正后改为 structure-aware / active 的选择逻辑，让 checkpoint 选择和研究目标一致。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8096" y="4498848"/>
            <a:ext cx="164592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D6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8096" y="4498848"/>
            <a:ext cx="73152" cy="868680"/>
          </a:xfrm>
          <a:prstGeom prst="rect">
            <a:avLst/>
          </a:prstGeom>
          <a:solidFill>
            <a:srgbClr val="BA51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590288"/>
            <a:ext cx="142646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616D7E"/>
                </a:solidFill>
                <a:latin typeface="Microsoft YaHei"/>
              </a:rPr>
              <a:t>Legacy picks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782312"/>
            <a:ext cx="14264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BA5140"/>
                </a:solidFill>
                <a:latin typeface="Microsoft YaHei"/>
              </a:rPr>
              <a:t>epoch 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5065776"/>
            <a:ext cx="14264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616D7E"/>
                </a:solidFill>
                <a:latin typeface="Microsoft YaHei"/>
              </a:rPr>
              <a:t>主 RMSE 更低，但不是我要的结构最优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542032" y="4498848"/>
            <a:ext cx="164592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D6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542032" y="4498848"/>
            <a:ext cx="73152" cy="868680"/>
          </a:xfrm>
          <a:prstGeom prst="rect">
            <a:avLst/>
          </a:prstGeom>
          <a:solidFill>
            <a:srgbClr val="2A6E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688336" y="4590288"/>
            <a:ext cx="142646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616D7E"/>
                </a:solidFill>
                <a:latin typeface="Microsoft YaHei"/>
              </a:rPr>
              <a:t>Corrected picks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88336" y="4782312"/>
            <a:ext cx="14264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A6E5D"/>
                </a:solidFill>
                <a:latin typeface="Microsoft YaHei"/>
              </a:rPr>
              <a:t>epoch 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88336" y="5065776"/>
            <a:ext cx="14264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616D7E"/>
                </a:solidFill>
                <a:latin typeface="Microsoft YaHei"/>
              </a:rPr>
              <a:t>尾段与边界结构更合理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68096" y="5422392"/>
            <a:ext cx="164592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D6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68096" y="5422392"/>
            <a:ext cx="73152" cy="868680"/>
          </a:xfrm>
          <a:prstGeom prst="rect">
            <a:avLst/>
          </a:prstGeom>
          <a:solidFill>
            <a:srgbClr val="2A6E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5513832"/>
            <a:ext cx="142646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616D7E"/>
                </a:solidFill>
                <a:latin typeface="Microsoft YaHei"/>
              </a:rPr>
              <a:t>Boundary Shift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5705856"/>
            <a:ext cx="14264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A6E5D"/>
                </a:solidFill>
                <a:latin typeface="Microsoft YaHei"/>
              </a:rPr>
              <a:t>0.736 -&gt; 0.634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5989320"/>
            <a:ext cx="14264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616D7E"/>
                </a:solidFill>
                <a:latin typeface="Microsoft YaHei"/>
              </a:rPr>
              <a:t>修正规则后明显下降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542032" y="5422392"/>
            <a:ext cx="164592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D6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542032" y="5422392"/>
            <a:ext cx="73152" cy="868680"/>
          </a:xfrm>
          <a:prstGeom prst="rect">
            <a:avLst/>
          </a:prstGeom>
          <a:solidFill>
            <a:srgbClr val="2A6E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688336" y="5513832"/>
            <a:ext cx="142646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616D7E"/>
                </a:solidFill>
                <a:latin typeface="Microsoft YaHei"/>
              </a:rPr>
              <a:t>Tail RMSE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88336" y="5705856"/>
            <a:ext cx="14264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A6E5D"/>
                </a:solidFill>
                <a:latin typeface="Microsoft YaHei"/>
              </a:rPr>
              <a:t>0.369 -&gt; 0.363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688336" y="5989320"/>
            <a:ext cx="14264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616D7E"/>
                </a:solidFill>
                <a:latin typeface="Microsoft YaHei"/>
              </a:rPr>
              <a:t>虽然不是巨大跃升，但方向正确</a:t>
            </a:r>
          </a:p>
        </p:txBody>
      </p:sp>
      <p:pic>
        <p:nvPicPr>
          <p:cNvPr id="30" name="Picture 29" descr="selection_rule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5152" y="1645920"/>
            <a:ext cx="6839712" cy="4315968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4709160" y="5797296"/>
            <a:ext cx="6583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616D7E"/>
                </a:solidFill>
                <a:latin typeface="Microsoft YaHei"/>
              </a:rPr>
              <a:t>图：selection rule 修正前后 best checkpoint 的测试集表现变化。Primary RMSE 略有 trade-off，但 tail / boundary / turning 更符合当前目标。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A2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E6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896112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252A30"/>
                </a:solidFill>
                <a:latin typeface="Microsoft YaHei"/>
              </a:rPr>
              <a:t>deterministic conditioned v2：当前最重要的主版本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987552"/>
            <a:ext cx="98755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616D7E"/>
                </a:solidFill>
                <a:latin typeface="Microsoft YaHei"/>
              </a:rPr>
              <a:t>这一页重点回答：改了什么、为什么这样改、比前一版和 baseline 好在哪里、还差什么。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566928"/>
            <a:ext cx="4114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>
                <a:solidFill>
                  <a:srgbClr val="616D7E"/>
                </a:solidFill>
                <a:latin typeface="Aptos"/>
              </a:rPr>
              <a:t>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353312"/>
            <a:ext cx="4069080" cy="47365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" y="1444752"/>
            <a:ext cx="3739896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 b="1">
                <a:solidFill>
                  <a:srgbClr val="3E5F8A"/>
                </a:solidFill>
                <a:latin typeface="Microsoft YaHei"/>
              </a:rPr>
              <a:t>为什么说它是当前主推版本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1737360"/>
            <a:ext cx="3639312" cy="2240280"/>
          </a:xfrm>
          <a:prstGeom prst="rect">
            <a:avLst/>
          </a:prstGeom>
          <a:noFill/>
        </p:spPr>
        <p:txBody>
          <a:bodyPr wrap="square" lIns="38100" rIns="38100" anchor="t">
            <a:sp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460">
                <a:solidFill>
                  <a:srgbClr val="252A30"/>
                </a:solidFill>
                <a:latin typeface="Microsoft YaHei"/>
              </a:rPr>
              <a:t>在第一代结构化版本基础上，改成 `structured_v2` conditioning，并加入更强的 deterministic event-to-trajectory coupling。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460">
                <a:solidFill>
                  <a:srgbClr val="252A30"/>
                </a:solidFill>
                <a:latin typeface="Microsoft YaHei"/>
              </a:rPr>
              <a:t>核心配置包括：`structure_width=0.065`、`gate_temperature=0.04`、`event_residual_scale=1.2`，同时配合修正后的 structure-aware selection。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460">
                <a:solidFill>
                  <a:srgbClr val="252A30"/>
                </a:solidFill>
                <a:latin typeface="Microsoft YaHei"/>
              </a:rPr>
              <a:t>目标是让事件条件不再“软注入”，而是更稳定地约束关键转折位置和尾段走势。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4352544"/>
            <a:ext cx="1755648" cy="859536"/>
          </a:xfrm>
          <a:prstGeom prst="roundRect">
            <a:avLst/>
          </a:prstGeom>
          <a:solidFill>
            <a:srgbClr val="FFFFFF"/>
          </a:solidFill>
          <a:ln>
            <a:solidFill>
              <a:srgbClr val="D6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4352544"/>
            <a:ext cx="73152" cy="859536"/>
          </a:xfrm>
          <a:prstGeom prst="rect">
            <a:avLst/>
          </a:prstGeom>
          <a:solidFill>
            <a:srgbClr val="2A6E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9536" y="4443984"/>
            <a:ext cx="153619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616D7E"/>
                </a:solidFill>
                <a:latin typeface="Microsoft YaHei"/>
              </a:rPr>
              <a:t>Overall 2 s RMSE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9536" y="4636008"/>
            <a:ext cx="15361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A6E5D"/>
                </a:solidFill>
                <a:latin typeface="Microsoft YaHei"/>
              </a:rPr>
              <a:t>0.381 -&gt; 0.377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6" y="4919472"/>
            <a:ext cx="15361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616D7E"/>
                </a:solidFill>
                <a:latin typeface="Microsoft YaHei"/>
              </a:rPr>
              <a:t>相对 baseline 小幅下降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596896" y="4352544"/>
            <a:ext cx="1755648" cy="859536"/>
          </a:xfrm>
          <a:prstGeom prst="roundRect">
            <a:avLst/>
          </a:prstGeom>
          <a:solidFill>
            <a:srgbClr val="FFFFFF"/>
          </a:solidFill>
          <a:ln>
            <a:solidFill>
              <a:srgbClr val="D6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596896" y="4352544"/>
            <a:ext cx="73152" cy="859536"/>
          </a:xfrm>
          <a:prstGeom prst="rect">
            <a:avLst/>
          </a:prstGeom>
          <a:solidFill>
            <a:srgbClr val="2A6E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43200" y="4443984"/>
            <a:ext cx="153619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616D7E"/>
                </a:solidFill>
                <a:latin typeface="Microsoft YaHei"/>
              </a:rPr>
              <a:t>Tail RMSE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0" y="4636008"/>
            <a:ext cx="15361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A6E5D"/>
                </a:solidFill>
                <a:latin typeface="Microsoft YaHei"/>
              </a:rPr>
              <a:t>0.398 -&gt; 0.376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0" y="4919472"/>
            <a:ext cx="15361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616D7E"/>
                </a:solidFill>
                <a:latin typeface="Microsoft YaHei"/>
              </a:rPr>
              <a:t>尾段误差更稳定下降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13232" y="5285232"/>
            <a:ext cx="1755648" cy="859536"/>
          </a:xfrm>
          <a:prstGeom prst="roundRect">
            <a:avLst/>
          </a:prstGeom>
          <a:solidFill>
            <a:srgbClr val="FFFFFF"/>
          </a:solidFill>
          <a:ln>
            <a:solidFill>
              <a:srgbClr val="D6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13232" y="5285232"/>
            <a:ext cx="73152" cy="859536"/>
          </a:xfrm>
          <a:prstGeom prst="rect">
            <a:avLst/>
          </a:prstGeom>
          <a:solidFill>
            <a:srgbClr val="2A6E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9536" y="5376672"/>
            <a:ext cx="153619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616D7E"/>
                </a:solidFill>
                <a:latin typeface="Microsoft YaHei"/>
              </a:rPr>
              <a:t>Interaction Tail RMSE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9536" y="5568696"/>
            <a:ext cx="15361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A6E5D"/>
                </a:solidFill>
                <a:latin typeface="Microsoft YaHei"/>
              </a:rPr>
              <a:t>0.495 -&gt; 0.421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9536" y="5852160"/>
            <a:ext cx="15361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616D7E"/>
                </a:solidFill>
                <a:latin typeface="Microsoft YaHei"/>
              </a:rPr>
              <a:t>交互切片收益更明显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596896" y="5285232"/>
            <a:ext cx="1755648" cy="859536"/>
          </a:xfrm>
          <a:prstGeom prst="roundRect">
            <a:avLst/>
          </a:prstGeom>
          <a:solidFill>
            <a:srgbClr val="FFFFFF"/>
          </a:solidFill>
          <a:ln>
            <a:solidFill>
              <a:srgbClr val="D6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596896" y="5285232"/>
            <a:ext cx="73152" cy="859536"/>
          </a:xfrm>
          <a:prstGeom prst="rect">
            <a:avLst/>
          </a:prstGeom>
          <a:solidFill>
            <a:srgbClr val="2A6E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743200" y="5376672"/>
            <a:ext cx="153619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616D7E"/>
                </a:solidFill>
                <a:latin typeface="Microsoft YaHei"/>
              </a:rPr>
              <a:t>Turning Count Err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43200" y="5568696"/>
            <a:ext cx="15361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A6E5D"/>
                </a:solidFill>
                <a:latin typeface="Microsoft YaHei"/>
              </a:rPr>
              <a:t>1.77 -&gt; 1.54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743200" y="5852160"/>
            <a:ext cx="15361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616D7E"/>
                </a:solidFill>
                <a:latin typeface="Microsoft YaHei"/>
              </a:rPr>
              <a:t>转折数误差明显下降</a:t>
            </a:r>
          </a:p>
        </p:txBody>
      </p:sp>
      <p:pic>
        <p:nvPicPr>
          <p:cNvPr id="30" name="Picture 29" descr="representative_samples_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8304" y="1572768"/>
            <a:ext cx="6720840" cy="3310128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4754880" y="4956048"/>
            <a:ext cx="6537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616D7E"/>
                </a:solidFill>
                <a:latin typeface="Microsoft YaHei"/>
              </a:rPr>
              <a:t>图：deterministic conditioned v2 的代表结果图（预测 vs 真实方向盘转角曲线）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709160" y="5230368"/>
            <a:ext cx="6748272" cy="877824"/>
          </a:xfrm>
          <a:prstGeom prst="roundRect">
            <a:avLst/>
          </a:prstGeom>
          <a:solidFill>
            <a:srgbClr val="EAF2F1"/>
          </a:solidFill>
          <a:ln w="12700">
            <a:solidFill>
              <a:srgbClr val="D6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901184" y="5413248"/>
            <a:ext cx="6355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1">
                <a:solidFill>
                  <a:srgbClr val="1A2B44"/>
                </a:solidFill>
                <a:latin typeface="Microsoft YaHei"/>
              </a:rPr>
              <a:t>当前判断：它比 baseline 和上一版更像“真正围绕关键事件在预测”，但主瓶颈仍是 onset / reversal / peak 的时间对齐不够准，interaction 场景尤其明显。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A2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E6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896112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252A30"/>
                </a:solidFill>
                <a:latin typeface="Microsoft YaHei"/>
              </a:rPr>
              <a:t>interaction-only multi-hypothesis pilot：方向值得继续，但现在还不是成熟方案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987552"/>
            <a:ext cx="98755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616D7E"/>
                </a:solidFill>
                <a:latin typeface="Microsoft YaHei"/>
              </a:rPr>
              <a:t>只在交互场景上做 pilot，目的是验证“多假设”到底有没有必要。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566928"/>
            <a:ext cx="4114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>
                <a:solidFill>
                  <a:srgbClr val="616D7E"/>
                </a:solidFill>
                <a:latin typeface="Aptos"/>
              </a:rPr>
              <a:t>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417320"/>
            <a:ext cx="3931920" cy="460857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508760"/>
            <a:ext cx="3602736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 b="1">
                <a:solidFill>
                  <a:srgbClr val="3E5F8A"/>
                </a:solidFill>
                <a:latin typeface="Microsoft YaHei"/>
              </a:rPr>
              <a:t>pilot 想验证什么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" y="1810512"/>
            <a:ext cx="3493008" cy="2176272"/>
          </a:xfrm>
          <a:prstGeom prst="rect">
            <a:avLst/>
          </a:prstGeom>
          <a:noFill/>
        </p:spPr>
        <p:txBody>
          <a:bodyPr wrap="square" lIns="38100" rIns="38100" anchor="t">
            <a:sp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480">
                <a:solidFill>
                  <a:srgbClr val="252A30"/>
                </a:solidFill>
                <a:latin typeface="Microsoft YaHei"/>
              </a:rPr>
              <a:t>交互场景本身存在未来不确定性，所以我没有直接全量上多模态，而是先做 interaction-only multi-hypothesis pilot。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480">
                <a:solidFill>
                  <a:srgbClr val="252A30"/>
                </a:solidFill>
                <a:latin typeface="Microsoft YaHei"/>
              </a:rPr>
              <a:t>如果 oracle 明显优于 deterministic v2，说明“多假设本身有价值”；如果 top-1 选不出来，则问题在 selector，而不一定在 hypothesis 生成。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480">
                <a:solidFill>
                  <a:srgbClr val="252A30"/>
                </a:solidFill>
                <a:latin typeface="Microsoft YaHei"/>
              </a:rPr>
              <a:t>这个 pilot 的定位是“验证方向”，不是直接替代当前主版本。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8096" y="4343400"/>
            <a:ext cx="1627632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D6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8096" y="4343400"/>
            <a:ext cx="73152" cy="868680"/>
          </a:xfrm>
          <a:prstGeom prst="rect">
            <a:avLst/>
          </a:prstGeom>
          <a:solidFill>
            <a:srgbClr val="3E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434840"/>
            <a:ext cx="140817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616D7E"/>
                </a:solidFill>
                <a:latin typeface="Microsoft YaHei"/>
              </a:rPr>
              <a:t>Det v2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626864"/>
            <a:ext cx="140817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3E5F8A"/>
                </a:solidFill>
                <a:latin typeface="Microsoft YaHei"/>
              </a:rPr>
              <a:t>Tail RMSE 0.344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910328"/>
            <a:ext cx="140817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616D7E"/>
                </a:solidFill>
                <a:latin typeface="Microsoft YaHei"/>
              </a:rPr>
              <a:t>当前稳定基线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487168" y="4343400"/>
            <a:ext cx="1755648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D6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487168" y="4343400"/>
            <a:ext cx="73152" cy="868680"/>
          </a:xfrm>
          <a:prstGeom prst="rect">
            <a:avLst/>
          </a:prstGeom>
          <a:solidFill>
            <a:srgbClr val="BA51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633472" y="4434840"/>
            <a:ext cx="153619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616D7E"/>
                </a:solidFill>
                <a:latin typeface="Microsoft YaHei"/>
              </a:rPr>
              <a:t>Top-1 multihyp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33472" y="4626864"/>
            <a:ext cx="15361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BA5140"/>
                </a:solidFill>
                <a:latin typeface="Microsoft YaHei"/>
              </a:rPr>
              <a:t>Tail RMSE 0.387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33472" y="4910328"/>
            <a:ext cx="15361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616D7E"/>
                </a:solidFill>
                <a:latin typeface="Microsoft YaHei"/>
              </a:rPr>
              <a:t>当前 selector 还不成熟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68096" y="5285232"/>
            <a:ext cx="1627632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D6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68096" y="5285232"/>
            <a:ext cx="73152" cy="868680"/>
          </a:xfrm>
          <a:prstGeom prst="rect">
            <a:avLst/>
          </a:prstGeom>
          <a:solidFill>
            <a:srgbClr val="2A6E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5376672"/>
            <a:ext cx="140817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616D7E"/>
                </a:solidFill>
                <a:latin typeface="Microsoft YaHei"/>
              </a:rPr>
              <a:t>Oracle multihyp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5568696"/>
            <a:ext cx="140817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A6E5D"/>
                </a:solidFill>
                <a:latin typeface="Microsoft YaHei"/>
              </a:rPr>
              <a:t>Tail RMSE 0.256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5852160"/>
            <a:ext cx="140817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616D7E"/>
                </a:solidFill>
                <a:latin typeface="Microsoft YaHei"/>
              </a:rPr>
              <a:t>说明多假设本身有潜力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487168" y="5285232"/>
            <a:ext cx="1755648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D6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487168" y="5285232"/>
            <a:ext cx="73152" cy="868680"/>
          </a:xfrm>
          <a:prstGeom prst="rect">
            <a:avLst/>
          </a:prstGeom>
          <a:solidFill>
            <a:srgbClr val="457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633472" y="5376672"/>
            <a:ext cx="153619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616D7E"/>
                </a:solidFill>
                <a:latin typeface="Microsoft YaHei"/>
              </a:rPr>
              <a:t>Overall judgment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33472" y="5568696"/>
            <a:ext cx="15361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457A78"/>
                </a:solidFill>
                <a:latin typeface="Microsoft YaHei"/>
              </a:rPr>
              <a:t>值得继续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633472" y="5852160"/>
            <a:ext cx="15361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616D7E"/>
                </a:solidFill>
                <a:latin typeface="Microsoft YaHei"/>
              </a:rPr>
              <a:t>先解决 hypothesis selection</a:t>
            </a:r>
          </a:p>
        </p:txBody>
      </p:sp>
      <p:pic>
        <p:nvPicPr>
          <p:cNvPr id="30" name="Picture 29" descr="representative_samples_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5152" y="1572768"/>
            <a:ext cx="6812280" cy="4187952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4718304" y="5788152"/>
            <a:ext cx="6537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616D7E"/>
                </a:solidFill>
                <a:latin typeface="Microsoft YaHei"/>
              </a:rPr>
              <a:t>图：interaction multi-hypothesis pilot 代表图。oracle 收益存在，但 top-1 选择仍不稳定。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A2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E6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896112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252A30"/>
                </a:solidFill>
                <a:latin typeface="Microsoft YaHei"/>
              </a:rPr>
              <a:t>总结与下一步工作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987552"/>
            <a:ext cx="98755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616D7E"/>
                </a:solidFill>
                <a:latin typeface="Microsoft YaHei"/>
              </a:rPr>
              <a:t>最后一页的口径是：我已经做到哪一步、主要瓶颈在哪里、下一步准备怎么做。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566928"/>
            <a:ext cx="4114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>
                <a:solidFill>
                  <a:srgbClr val="616D7E"/>
                </a:solidFill>
                <a:latin typeface="Aptos"/>
              </a:rPr>
              <a:t>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17320"/>
            <a:ext cx="361188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508760"/>
            <a:ext cx="3282696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 b="1">
                <a:solidFill>
                  <a:srgbClr val="3E5F8A"/>
                </a:solidFill>
                <a:latin typeface="Microsoft YaHei"/>
              </a:rPr>
              <a:t>已经取得的进展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" y="1810512"/>
            <a:ext cx="3163824" cy="2359152"/>
          </a:xfrm>
          <a:prstGeom prst="rect">
            <a:avLst/>
          </a:prstGeom>
          <a:noFill/>
        </p:spPr>
        <p:txBody>
          <a:bodyPr wrap="square" lIns="38100" rIns="38100" anchor="t">
            <a:sp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470">
                <a:solidFill>
                  <a:srgbClr val="252A30"/>
                </a:solidFill>
                <a:latin typeface="Microsoft YaHei"/>
              </a:rPr>
              <a:t>已经建立起从 baseline 到 deterministic conditioned v2 的连续演进主线，而不是停留在零散试验。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470">
                <a:solidFill>
                  <a:srgbClr val="252A30"/>
                </a:solidFill>
                <a:latin typeface="Microsoft YaHei"/>
              </a:rPr>
              <a:t>已经把“结构化建模”和“selection rule 修正”两件事拆开讲清楚，并验证它们分别带来的收益。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470">
                <a:solidFill>
                  <a:srgbClr val="252A30"/>
                </a:solidFill>
                <a:latin typeface="Microsoft YaHei"/>
              </a:rPr>
              <a:t>当前主推版本 deterministic conditioned v2 在 tail、turning、interaction 切片上都比 baseline 更好。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15968" y="1417320"/>
            <a:ext cx="361188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80560" y="1508760"/>
            <a:ext cx="3282696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 b="1">
                <a:solidFill>
                  <a:srgbClr val="3E5F8A"/>
                </a:solidFill>
                <a:latin typeface="Microsoft YaHei"/>
              </a:rPr>
              <a:t>当前主要瓶颈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35424" y="1810512"/>
            <a:ext cx="3145536" cy="2359152"/>
          </a:xfrm>
          <a:prstGeom prst="rect">
            <a:avLst/>
          </a:prstGeom>
          <a:noFill/>
        </p:spPr>
        <p:txBody>
          <a:bodyPr wrap="square" lIns="38100" rIns="38100" anchor="t">
            <a:sp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470">
                <a:solidFill>
                  <a:srgbClr val="252A30"/>
                </a:solidFill>
                <a:latin typeface="Microsoft YaHei"/>
              </a:rPr>
              <a:t>问题已经收敛为：关键事件仍然对不准，尤其是 onset / reversal / peak 的时间锚点误差。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470">
                <a:solidFill>
                  <a:srgbClr val="252A30"/>
                </a:solidFill>
                <a:latin typeface="Microsoft YaHei"/>
              </a:rPr>
              <a:t>也就是说，模型不是“整体完全不会预测”，而是“已经会预测，但关键节点不够准”。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470">
                <a:solidFill>
                  <a:srgbClr val="252A30"/>
                </a:solidFill>
                <a:latin typeface="Microsoft YaHei"/>
              </a:rPr>
              <a:t>interaction 场景仍然是最难的部分，说明未来不确定性和 selector 设计都是核心难点。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83296" y="1417320"/>
            <a:ext cx="3547872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47888" y="1508760"/>
            <a:ext cx="3218688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 b="1">
                <a:solidFill>
                  <a:srgbClr val="3E5F8A"/>
                </a:solidFill>
                <a:latin typeface="Microsoft YaHei"/>
              </a:rPr>
              <a:t>下一步准备怎么做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02752" y="1810512"/>
            <a:ext cx="3090672" cy="2359152"/>
          </a:xfrm>
          <a:prstGeom prst="rect">
            <a:avLst/>
          </a:prstGeom>
          <a:noFill/>
        </p:spPr>
        <p:txBody>
          <a:bodyPr wrap="square" lIns="38100" rIns="38100" anchor="t">
            <a:sp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440">
                <a:solidFill>
                  <a:srgbClr val="252A30"/>
                </a:solidFill>
                <a:latin typeface="Microsoft YaHei"/>
              </a:rPr>
              <a:t>继续围绕 deterministic conditioned v2 做事件锚点精修，而不是立刻换主线。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440">
                <a:solidFill>
                  <a:srgbClr val="252A30"/>
                </a:solidFill>
                <a:latin typeface="Microsoft YaHei"/>
              </a:rPr>
              <a:t>补强 turning / reversal / peak timing 的显式约束，让“关键事件对齐”进入 loss 和 selection。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440">
                <a:solidFill>
                  <a:srgbClr val="252A30"/>
                </a:solidFill>
                <a:latin typeface="Microsoft YaHei"/>
              </a:rPr>
              <a:t>把 multi-hypothesis 先限定在 interaction slice，重点先解决 hypothesis selector，再决定是否扩展。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5504688"/>
            <a:ext cx="10972800" cy="658368"/>
          </a:xfrm>
          <a:prstGeom prst="roundRect">
            <a:avLst/>
          </a:prstGeom>
          <a:solidFill>
            <a:srgbClr val="E9EFF5"/>
          </a:solidFill>
          <a:ln w="12700">
            <a:solidFill>
              <a:srgbClr val="D6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77824" y="5669280"/>
            <a:ext cx="10561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0" b="1">
                <a:solidFill>
                  <a:srgbClr val="1A2B44"/>
                </a:solidFill>
                <a:latin typeface="Microsoft YaHei"/>
              </a:rPr>
              <a:t>一句话总结：我现在已经把问题从“模型能不能预测”收敛到了“关键事件如何更准确对齐”；因此下一步不是盲目加复杂度，而是继续沿着 deterministic conditioned v2 把事件锚点做准。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